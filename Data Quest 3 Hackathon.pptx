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F51ECC6-2D4B-BA92-B282-4E3DA8165BC6}" name="RISHIT BISOYI" initials="RB" userId="S::rishit.bisoyi2025@vitstudent.ac.in::cd4f7ff7-75e1-49f2-a276-375c6c14782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C15F0A-9E17-4F24-9A03-5726D12EECA8}" v="19" dt="2026-10-07T09:13:19.543"/>
    <p1510:client id="{7B2C0BEE-8EA0-ABCF-A62F-2B9F40FC6642}" v="1" dt="2026-10-06T20:26:11.604"/>
    <p1510:client id="{8792CA87-CA5F-61F4-2F34-29E534A3DBAA}" v="7" dt="2026-10-07T05:50:44.076"/>
    <p1510:client id="{DE1F110C-4B0A-4D3C-8C73-4C763D746647}" v="35" dt="2026-10-07T07:37:18.5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kumar s" userId="c30bcc30b1b2c1e5" providerId="LiveId" clId="{9DE0F0AB-D281-4738-B916-DB36D3C086F3}"/>
    <pc:docChg chg="undo custSel addSld delSld modSld">
      <pc:chgData name="harikumar s" userId="c30bcc30b1b2c1e5" providerId="LiveId" clId="{9DE0F0AB-D281-4738-B916-DB36D3C086F3}" dt="2026-10-07T09:14:12.993" v="1303" actId="47"/>
      <pc:docMkLst>
        <pc:docMk/>
      </pc:docMkLst>
      <pc:sldChg chg="modSp mod">
        <pc:chgData name="harikumar s" userId="c30bcc30b1b2c1e5" providerId="LiveId" clId="{9DE0F0AB-D281-4738-B916-DB36D3C086F3}" dt="2026-10-07T06:59:14.677" v="587" actId="20577"/>
        <pc:sldMkLst>
          <pc:docMk/>
          <pc:sldMk cId="0" sldId="256"/>
        </pc:sldMkLst>
        <pc:spChg chg="mod">
          <ac:chgData name="harikumar s" userId="c30bcc30b1b2c1e5" providerId="LiveId" clId="{9DE0F0AB-D281-4738-B916-DB36D3C086F3}" dt="2026-10-07T06:59:14.677" v="587" actId="20577"/>
          <ac:spMkLst>
            <pc:docMk/>
            <pc:sldMk cId="0" sldId="256"/>
            <ac:spMk id="32" creationId="{00000000-0000-0000-0000-000000000000}"/>
          </ac:spMkLst>
        </pc:spChg>
        <pc:spChg chg="mod">
          <ac:chgData name="harikumar s" userId="c30bcc30b1b2c1e5" providerId="LiveId" clId="{9DE0F0AB-D281-4738-B916-DB36D3C086F3}" dt="2026-10-07T06:52:07.007" v="569" actId="20577"/>
          <ac:spMkLst>
            <pc:docMk/>
            <pc:sldMk cId="0" sldId="256"/>
            <ac:spMk id="35" creationId="{00000000-0000-0000-0000-000000000000}"/>
          </ac:spMkLst>
        </pc:spChg>
      </pc:sldChg>
      <pc:sldChg chg="modSp add del mod">
        <pc:chgData name="harikumar s" userId="c30bcc30b1b2c1e5" providerId="LiveId" clId="{9DE0F0AB-D281-4738-B916-DB36D3C086F3}" dt="2026-10-07T09:13:54.640" v="1302" actId="255"/>
        <pc:sldMkLst>
          <pc:docMk/>
          <pc:sldMk cId="0" sldId="257"/>
        </pc:sldMkLst>
        <pc:spChg chg="mod">
          <ac:chgData name="harikumar s" userId="c30bcc30b1b2c1e5" providerId="LiveId" clId="{9DE0F0AB-D281-4738-B916-DB36D3C086F3}" dt="2026-10-07T09:01:55.657" v="1254" actId="255"/>
          <ac:spMkLst>
            <pc:docMk/>
            <pc:sldMk cId="0" sldId="257"/>
            <ac:spMk id="26" creationId="{00000000-0000-0000-0000-000000000000}"/>
          </ac:spMkLst>
        </pc:spChg>
        <pc:spChg chg="mod">
          <ac:chgData name="harikumar s" userId="c30bcc30b1b2c1e5" providerId="LiveId" clId="{9DE0F0AB-D281-4738-B916-DB36D3C086F3}" dt="2026-10-07T09:02:25.026" v="1255"/>
          <ac:spMkLst>
            <pc:docMk/>
            <pc:sldMk cId="0" sldId="257"/>
            <ac:spMk id="29" creationId="{00000000-0000-0000-0000-000000000000}"/>
          </ac:spMkLst>
        </pc:spChg>
        <pc:spChg chg="mod">
          <ac:chgData name="harikumar s" userId="c30bcc30b1b2c1e5" providerId="LiveId" clId="{9DE0F0AB-D281-4738-B916-DB36D3C086F3}" dt="2026-10-07T09:03:06.136" v="1258" actId="255"/>
          <ac:spMkLst>
            <pc:docMk/>
            <pc:sldMk cId="0" sldId="257"/>
            <ac:spMk id="32" creationId="{00000000-0000-0000-0000-000000000000}"/>
          </ac:spMkLst>
        </pc:spChg>
        <pc:spChg chg="mod">
          <ac:chgData name="harikumar s" userId="c30bcc30b1b2c1e5" providerId="LiveId" clId="{9DE0F0AB-D281-4738-B916-DB36D3C086F3}" dt="2026-10-07T09:13:54.640" v="1302" actId="255"/>
          <ac:spMkLst>
            <pc:docMk/>
            <pc:sldMk cId="0" sldId="257"/>
            <ac:spMk id="35" creationId="{00000000-0000-0000-0000-000000000000}"/>
          </ac:spMkLst>
        </pc:spChg>
      </pc:sldChg>
      <pc:sldChg chg="modSp mod">
        <pc:chgData name="harikumar s" userId="c30bcc30b1b2c1e5" providerId="LiveId" clId="{9DE0F0AB-D281-4738-B916-DB36D3C086F3}" dt="2026-10-07T09:04:57.823" v="1269" actId="20577"/>
        <pc:sldMkLst>
          <pc:docMk/>
          <pc:sldMk cId="0" sldId="258"/>
        </pc:sldMkLst>
        <pc:spChg chg="mod">
          <ac:chgData name="harikumar s" userId="c30bcc30b1b2c1e5" providerId="LiveId" clId="{9DE0F0AB-D281-4738-B916-DB36D3C086F3}" dt="2026-10-07T09:04:57.823" v="1269" actId="20577"/>
          <ac:spMkLst>
            <pc:docMk/>
            <pc:sldMk cId="0" sldId="258"/>
            <ac:spMk id="26" creationId="{00000000-0000-0000-0000-000000000000}"/>
          </ac:spMkLst>
        </pc:spChg>
        <pc:spChg chg="mod">
          <ac:chgData name="harikumar s" userId="c30bcc30b1b2c1e5" providerId="LiveId" clId="{9DE0F0AB-D281-4738-B916-DB36D3C086F3}" dt="2026-10-07T07:39:48.204" v="1248" actId="255"/>
          <ac:spMkLst>
            <pc:docMk/>
            <pc:sldMk cId="0" sldId="258"/>
            <ac:spMk id="29" creationId="{00000000-0000-0000-0000-000000000000}"/>
          </ac:spMkLst>
        </pc:spChg>
        <pc:spChg chg="mod">
          <ac:chgData name="harikumar s" userId="c30bcc30b1b2c1e5" providerId="LiveId" clId="{9DE0F0AB-D281-4738-B916-DB36D3C086F3}" dt="2026-10-07T07:39:55.024" v="1249" actId="255"/>
          <ac:spMkLst>
            <pc:docMk/>
            <pc:sldMk cId="0" sldId="258"/>
            <ac:spMk id="31" creationId="{00000000-0000-0000-0000-000000000000}"/>
          </ac:spMkLst>
        </pc:spChg>
        <pc:spChg chg="mod">
          <ac:chgData name="harikumar s" userId="c30bcc30b1b2c1e5" providerId="LiveId" clId="{9DE0F0AB-D281-4738-B916-DB36D3C086F3}" dt="2026-10-07T07:40:00.501" v="1250" actId="255"/>
          <ac:spMkLst>
            <pc:docMk/>
            <pc:sldMk cId="0" sldId="258"/>
            <ac:spMk id="33" creationId="{00000000-0000-0000-0000-000000000000}"/>
          </ac:spMkLst>
        </pc:spChg>
        <pc:spChg chg="mod">
          <ac:chgData name="harikumar s" userId="c30bcc30b1b2c1e5" providerId="LiveId" clId="{9DE0F0AB-D281-4738-B916-DB36D3C086F3}" dt="2026-10-07T07:39:34.374" v="1246" actId="255"/>
          <ac:spMkLst>
            <pc:docMk/>
            <pc:sldMk cId="0" sldId="258"/>
            <ac:spMk id="36" creationId="{00000000-0000-0000-0000-000000000000}"/>
          </ac:spMkLst>
        </pc:spChg>
        <pc:spChg chg="mod">
          <ac:chgData name="harikumar s" userId="c30bcc30b1b2c1e5" providerId="LiveId" clId="{9DE0F0AB-D281-4738-B916-DB36D3C086F3}" dt="2026-10-07T07:39:40.933" v="1247" actId="255"/>
          <ac:spMkLst>
            <pc:docMk/>
            <pc:sldMk cId="0" sldId="258"/>
            <ac:spMk id="39" creationId="{00000000-0000-0000-0000-000000000000}"/>
          </ac:spMkLst>
        </pc:spChg>
      </pc:sldChg>
      <pc:sldChg chg="addSp delSp modSp mod">
        <pc:chgData name="harikumar s" userId="c30bcc30b1b2c1e5" providerId="LiveId" clId="{9DE0F0AB-D281-4738-B916-DB36D3C086F3}" dt="2026-10-07T09:06:23.786" v="1274"/>
        <pc:sldMkLst>
          <pc:docMk/>
          <pc:sldMk cId="0" sldId="259"/>
        </pc:sldMkLst>
        <pc:spChg chg="del mod">
          <ac:chgData name="harikumar s" userId="c30bcc30b1b2c1e5" providerId="LiveId" clId="{9DE0F0AB-D281-4738-B916-DB36D3C086F3}" dt="2026-10-07T07:22:08.224" v="1192" actId="478"/>
          <ac:spMkLst>
            <pc:docMk/>
            <pc:sldMk cId="0" sldId="259"/>
            <ac:spMk id="27" creationId="{00000000-0000-0000-0000-000000000000}"/>
          </ac:spMkLst>
        </pc:spChg>
        <pc:spChg chg="mod">
          <ac:chgData name="harikumar s" userId="c30bcc30b1b2c1e5" providerId="LiveId" clId="{9DE0F0AB-D281-4738-B916-DB36D3C086F3}" dt="2026-10-07T09:05:26.440" v="1270"/>
          <ac:spMkLst>
            <pc:docMk/>
            <pc:sldMk cId="0" sldId="259"/>
            <ac:spMk id="30" creationId="{00000000-0000-0000-0000-000000000000}"/>
          </ac:spMkLst>
        </pc:spChg>
        <pc:spChg chg="mod">
          <ac:chgData name="harikumar s" userId="c30bcc30b1b2c1e5" providerId="LiveId" clId="{9DE0F0AB-D281-4738-B916-DB36D3C086F3}" dt="2026-10-07T09:05:58.128" v="1273"/>
          <ac:spMkLst>
            <pc:docMk/>
            <pc:sldMk cId="0" sldId="259"/>
            <ac:spMk id="33" creationId="{00000000-0000-0000-0000-000000000000}"/>
          </ac:spMkLst>
        </pc:spChg>
        <pc:spChg chg="mod">
          <ac:chgData name="harikumar s" userId="c30bcc30b1b2c1e5" providerId="LiveId" clId="{9DE0F0AB-D281-4738-B916-DB36D3C086F3}" dt="2026-10-07T09:06:23.786" v="1274"/>
          <ac:spMkLst>
            <pc:docMk/>
            <pc:sldMk cId="0" sldId="259"/>
            <ac:spMk id="36" creationId="{00000000-0000-0000-0000-000000000000}"/>
          </ac:spMkLst>
        </pc:spChg>
        <pc:picChg chg="add mod">
          <ac:chgData name="harikumar s" userId="c30bcc30b1b2c1e5" providerId="LiveId" clId="{9DE0F0AB-D281-4738-B916-DB36D3C086F3}" dt="2026-10-07T07:23:37.519" v="1204" actId="14100"/>
          <ac:picMkLst>
            <pc:docMk/>
            <pc:sldMk cId="0" sldId="259"/>
            <ac:picMk id="38" creationId="{868F3D12-090D-D96C-CEC6-997A694DC4A4}"/>
          </ac:picMkLst>
        </pc:picChg>
      </pc:sldChg>
      <pc:sldChg chg="modSp mod">
        <pc:chgData name="harikumar s" userId="c30bcc30b1b2c1e5" providerId="LiveId" clId="{9DE0F0AB-D281-4738-B916-DB36D3C086F3}" dt="2026-10-07T09:09:00.312" v="1283" actId="255"/>
        <pc:sldMkLst>
          <pc:docMk/>
          <pc:sldMk cId="0" sldId="260"/>
        </pc:sldMkLst>
        <pc:spChg chg="mod">
          <ac:chgData name="harikumar s" userId="c30bcc30b1b2c1e5" providerId="LiveId" clId="{9DE0F0AB-D281-4738-B916-DB36D3C086F3}" dt="2026-10-07T09:09:00.312" v="1283" actId="255"/>
          <ac:spMkLst>
            <pc:docMk/>
            <pc:sldMk cId="0" sldId="260"/>
            <ac:spMk id="26" creationId="{00000000-0000-0000-0000-000000000000}"/>
          </ac:spMkLst>
        </pc:spChg>
        <pc:spChg chg="mod">
          <ac:chgData name="harikumar s" userId="c30bcc30b1b2c1e5" providerId="LiveId" clId="{9DE0F0AB-D281-4738-B916-DB36D3C086F3}" dt="2026-10-07T09:08:54.969" v="1282" actId="255"/>
          <ac:spMkLst>
            <pc:docMk/>
            <pc:sldMk cId="0" sldId="260"/>
            <ac:spMk id="29" creationId="{00000000-0000-0000-0000-000000000000}"/>
          </ac:spMkLst>
        </pc:spChg>
        <pc:spChg chg="mod">
          <ac:chgData name="harikumar s" userId="c30bcc30b1b2c1e5" providerId="LiveId" clId="{9DE0F0AB-D281-4738-B916-DB36D3C086F3}" dt="2026-10-07T09:08:49.754" v="1281" actId="255"/>
          <ac:spMkLst>
            <pc:docMk/>
            <pc:sldMk cId="0" sldId="260"/>
            <ac:spMk id="32" creationId="{00000000-0000-0000-0000-000000000000}"/>
          </ac:spMkLst>
        </pc:spChg>
        <pc:spChg chg="mod">
          <ac:chgData name="harikumar s" userId="c30bcc30b1b2c1e5" providerId="LiveId" clId="{9DE0F0AB-D281-4738-B916-DB36D3C086F3}" dt="2026-10-07T09:08:43.386" v="1280" actId="255"/>
          <ac:spMkLst>
            <pc:docMk/>
            <pc:sldMk cId="0" sldId="260"/>
            <ac:spMk id="35" creationId="{00000000-0000-0000-0000-000000000000}"/>
          </ac:spMkLst>
        </pc:spChg>
      </pc:sldChg>
      <pc:sldChg chg="modSp mod">
        <pc:chgData name="harikumar s" userId="c30bcc30b1b2c1e5" providerId="LiveId" clId="{9DE0F0AB-D281-4738-B916-DB36D3C086F3}" dt="2026-10-07T09:11:40.042" v="1293" actId="255"/>
        <pc:sldMkLst>
          <pc:docMk/>
          <pc:sldMk cId="0" sldId="261"/>
        </pc:sldMkLst>
        <pc:spChg chg="mod">
          <ac:chgData name="harikumar s" userId="c30bcc30b1b2c1e5" providerId="LiveId" clId="{9DE0F0AB-D281-4738-B916-DB36D3C086F3}" dt="2026-10-07T09:09:28.997" v="1284"/>
          <ac:spMkLst>
            <pc:docMk/>
            <pc:sldMk cId="0" sldId="261"/>
            <ac:spMk id="27" creationId="{00000000-0000-0000-0000-000000000000}"/>
          </ac:spMkLst>
        </pc:spChg>
        <pc:spChg chg="mod">
          <ac:chgData name="harikumar s" userId="c30bcc30b1b2c1e5" providerId="LiveId" clId="{9DE0F0AB-D281-4738-B916-DB36D3C086F3}" dt="2026-10-07T09:11:04.211" v="1287" actId="255"/>
          <ac:spMkLst>
            <pc:docMk/>
            <pc:sldMk cId="0" sldId="261"/>
            <ac:spMk id="30" creationId="{00000000-0000-0000-0000-000000000000}"/>
          </ac:spMkLst>
        </pc:spChg>
        <pc:spChg chg="mod">
          <ac:chgData name="harikumar s" userId="c30bcc30b1b2c1e5" providerId="LiveId" clId="{9DE0F0AB-D281-4738-B916-DB36D3C086F3}" dt="2026-10-07T09:11:28.785" v="1292" actId="255"/>
          <ac:spMkLst>
            <pc:docMk/>
            <pc:sldMk cId="0" sldId="261"/>
            <ac:spMk id="33" creationId="{00000000-0000-0000-0000-000000000000}"/>
          </ac:spMkLst>
        </pc:spChg>
        <pc:spChg chg="mod">
          <ac:chgData name="harikumar s" userId="c30bcc30b1b2c1e5" providerId="LiveId" clId="{9DE0F0AB-D281-4738-B916-DB36D3C086F3}" dt="2026-10-07T09:11:40.042" v="1293" actId="255"/>
          <ac:spMkLst>
            <pc:docMk/>
            <pc:sldMk cId="0" sldId="261"/>
            <ac:spMk id="36" creationId="{00000000-0000-0000-0000-000000000000}"/>
          </ac:spMkLst>
        </pc:spChg>
      </pc:sldChg>
      <pc:sldChg chg="modSp mod">
        <pc:chgData name="harikumar s" userId="c30bcc30b1b2c1e5" providerId="LiveId" clId="{9DE0F0AB-D281-4738-B916-DB36D3C086F3}" dt="2026-10-07T09:13:33.574" v="1301" actId="255"/>
        <pc:sldMkLst>
          <pc:docMk/>
          <pc:sldMk cId="0" sldId="262"/>
        </pc:sldMkLst>
        <pc:spChg chg="mod">
          <ac:chgData name="harikumar s" userId="c30bcc30b1b2c1e5" providerId="LiveId" clId="{9DE0F0AB-D281-4738-B916-DB36D3C086F3}" dt="2026-10-07T09:12:48.807" v="1298" actId="255"/>
          <ac:spMkLst>
            <pc:docMk/>
            <pc:sldMk cId="0" sldId="262"/>
            <ac:spMk id="26" creationId="{00000000-0000-0000-0000-000000000000}"/>
          </ac:spMkLst>
        </pc:spChg>
        <pc:spChg chg="mod">
          <ac:chgData name="harikumar s" userId="c30bcc30b1b2c1e5" providerId="LiveId" clId="{9DE0F0AB-D281-4738-B916-DB36D3C086F3}" dt="2026-10-07T09:12:40.843" v="1297" actId="255"/>
          <ac:spMkLst>
            <pc:docMk/>
            <pc:sldMk cId="0" sldId="262"/>
            <ac:spMk id="29" creationId="{00000000-0000-0000-0000-000000000000}"/>
          </ac:spMkLst>
        </pc:spChg>
        <pc:spChg chg="mod">
          <ac:chgData name="harikumar s" userId="c30bcc30b1b2c1e5" providerId="LiveId" clId="{9DE0F0AB-D281-4738-B916-DB36D3C086F3}" dt="2026-10-07T09:13:33.574" v="1301" actId="255"/>
          <ac:spMkLst>
            <pc:docMk/>
            <pc:sldMk cId="0" sldId="262"/>
            <ac:spMk id="32" creationId="{00000000-0000-0000-0000-000000000000}"/>
          </ac:spMkLst>
        </pc:spChg>
      </pc:sldChg>
      <pc:sldChg chg="del">
        <pc:chgData name="harikumar s" userId="c30bcc30b1b2c1e5" providerId="LiveId" clId="{9DE0F0AB-D281-4738-B916-DB36D3C086F3}" dt="2026-10-07T09:14:12.993" v="1303" actId="47"/>
        <pc:sldMkLst>
          <pc:docMk/>
          <pc:sldMk cId="0" sldId="264"/>
        </pc:sldMkLst>
      </pc:sldChg>
      <pc:sldChg chg="add del">
        <pc:chgData name="harikumar s" userId="c30bcc30b1b2c1e5" providerId="LiveId" clId="{9DE0F0AB-D281-4738-B916-DB36D3C086F3}" dt="2026-10-07T07:02:01.153" v="603" actId="47"/>
        <pc:sldMkLst>
          <pc:docMk/>
          <pc:sldMk cId="4183757539" sldId="265"/>
        </pc:sldMkLst>
      </pc:sldChg>
    </pc:docChg>
  </pc:docChgLst>
</pc:chgInfo>
</file>

<file path=ppt/comments/modernComment_100_0.xml><?xml version="1.0" encoding="utf-8"?>
<p188:cmLst xmlns:a="http://schemas.openxmlformats.org/drawingml/2006/main" xmlns:r="http://schemas.openxmlformats.org/officeDocument/2006/relationships" xmlns:p188="http://schemas.microsoft.com/office/powerpoint/2018/8/main">
  <p188:cm id="{3B688531-0810-49A5-A43A-AC37517BACE6}" authorId="{4F51ECC6-2D4B-BA92-B282-4E3DA8165BC6}" created="2026-10-06T20:26:11.604">
    <pc:sldMkLst xmlns:pc="http://schemas.microsoft.com/office/powerpoint/2013/main/command">
      <pc:docMk/>
      <pc:sldMk cId="0" sldId="256"/>
    </pc:sldMkLst>
    <p188:txBody>
      <a:bodyPr/>
      <a:lstStyle/>
      <a:p>
        <a:r>
          <a:rPr lang="en-US"/>
          <a:t>Go to File-&gt;Create a copy-&gt;Download</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00_0.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2194560"/>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2596896"/>
            <a:ext cx="146304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2999232"/>
            <a:ext cx="105156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9601200" y="640080"/>
            <a:ext cx="109728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56005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65733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rc 19"/>
          <p:cNvSpPr/>
          <p:nvPr/>
        </p:nvSpPr>
        <p:spPr>
          <a:xfrm>
            <a:off x="1463040" y="5303520"/>
            <a:ext cx="1005840" cy="73152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421892" y="56281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427732" y="526237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10800000">
            <a:off x="1645920" y="758952"/>
            <a:ext cx="219456" cy="256032"/>
          </a:xfrm>
          <a:prstGeom prst="triangle">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673352" y="685800"/>
            <a:ext cx="164592" cy="91440"/>
          </a:xfrm>
          <a:prstGeom prst="roundRect">
            <a:avLst>
              <a:gd name="adj" fmla="val 20000"/>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732788" y="822960"/>
            <a:ext cx="45720" cy="45720"/>
          </a:xfrm>
          <a:prstGeom prst="ellipse">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751076" y="868680"/>
            <a:ext cx="19050" cy="13716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645920" y="1078992"/>
            <a:ext cx="9144000" cy="1554480"/>
          </a:xfrm>
          <a:prstGeom prst="rect">
            <a:avLst/>
          </a:prstGeom>
          <a:noFill/>
        </p:spPr>
        <p:txBody>
          <a:bodyPr wrap="none" lIns="0" tIns="0" rIns="0" bIns="0">
            <a:spAutoFit/>
          </a:bodyPr>
          <a:lstStyle/>
          <a:p>
            <a:pPr>
              <a:defRPr sz="5600" b="1">
                <a:solidFill>
                  <a:srgbClr val="353334"/>
                </a:solidFill>
                <a:latin typeface="Fjalla One"/>
              </a:defRPr>
            </a:pPr>
            <a:r>
              <a:t>DATAQUEST 3.0</a:t>
            </a:r>
          </a:p>
          <a:p>
            <a:pPr>
              <a:spcBef>
                <a:spcPts val="200"/>
              </a:spcBef>
              <a:defRPr sz="3200" b="1">
                <a:solidFill>
                  <a:srgbClr val="FD1485"/>
                </a:solidFill>
                <a:latin typeface="Fjalla One"/>
              </a:defRPr>
            </a:pPr>
            <a:r>
              <a:t>ROUND 1</a:t>
            </a:r>
          </a:p>
        </p:txBody>
      </p:sp>
      <p:sp>
        <p:nvSpPr>
          <p:cNvPr id="28" name="Rectangle 27"/>
          <p:cNvSpPr/>
          <p:nvPr/>
        </p:nvSpPr>
        <p:spPr>
          <a:xfrm>
            <a:off x="1645920" y="2578608"/>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645920" y="2670048"/>
            <a:ext cx="9418320" cy="320040"/>
          </a:xfrm>
          <a:prstGeom prst="rect">
            <a:avLst/>
          </a:prstGeom>
          <a:noFill/>
        </p:spPr>
        <p:txBody>
          <a:bodyPr wrap="none" lIns="0" tIns="0" rIns="0" bIns="0">
            <a:spAutoFit/>
          </a:bodyPr>
          <a:lstStyle/>
          <a:p>
            <a:pPr>
              <a:defRPr sz="1200" b="1">
                <a:solidFill>
                  <a:srgbClr val="353334"/>
                </a:solidFill>
                <a:latin typeface="Mulish"/>
              </a:defRPr>
            </a:pPr>
            <a:r>
              <a:t>OFFICIAL PARTICIPANT PPT TEMPLATE</a:t>
            </a:r>
          </a:p>
        </p:txBody>
      </p:sp>
      <p:sp>
        <p:nvSpPr>
          <p:cNvPr id="30" name="Rounded Rectangle 29"/>
          <p:cNvSpPr/>
          <p:nvPr/>
        </p:nvSpPr>
        <p:spPr>
          <a:xfrm>
            <a:off x="1645920" y="3246120"/>
            <a:ext cx="4572000" cy="29260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311810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PROJECT DETAILS</a:t>
            </a:r>
          </a:p>
        </p:txBody>
      </p:sp>
      <p:sp>
        <p:nvSpPr>
          <p:cNvPr id="32" name="TextBox 31"/>
          <p:cNvSpPr txBox="1"/>
          <p:nvPr/>
        </p:nvSpPr>
        <p:spPr>
          <a:xfrm>
            <a:off x="1920240" y="3520440"/>
            <a:ext cx="4023360" cy="1664558"/>
          </a:xfrm>
          <a:prstGeom prst="rect">
            <a:avLst/>
          </a:prstGeom>
          <a:noFill/>
        </p:spPr>
        <p:txBody>
          <a:bodyPr wrap="square">
            <a:spAutoFit/>
          </a:bodyPr>
          <a:lstStyle/>
          <a:p>
            <a:pPr>
              <a:defRPr sz="1100" b="1">
                <a:solidFill>
                  <a:srgbClr val="353334"/>
                </a:solidFill>
                <a:latin typeface="Fjalla One"/>
              </a:defRPr>
            </a:pPr>
            <a:r>
              <a:rPr dirty="0"/>
              <a:t>PROJECT TITLE</a:t>
            </a:r>
          </a:p>
          <a:p>
            <a:pPr>
              <a:spcBef>
                <a:spcPts val="200"/>
              </a:spcBef>
              <a:defRPr sz="1600" b="1">
                <a:solidFill>
                  <a:srgbClr val="FD1485"/>
                </a:solidFill>
                <a:latin typeface="Fjalla One"/>
              </a:defRPr>
            </a:pPr>
            <a:r>
              <a:rPr lang="en-IN" dirty="0"/>
              <a:t>PRISM Engine</a:t>
            </a:r>
            <a:endParaRPr dirty="0"/>
          </a:p>
          <a:p>
            <a:pPr>
              <a:spcBef>
                <a:spcPts val="1000"/>
              </a:spcBef>
              <a:defRPr sz="1100" b="1">
                <a:solidFill>
                  <a:srgbClr val="353334"/>
                </a:solidFill>
                <a:latin typeface="Fjalla One"/>
              </a:defRPr>
            </a:pPr>
            <a:r>
              <a:rPr dirty="0"/>
              <a:t>ONE-LINE PITCH</a:t>
            </a:r>
          </a:p>
          <a:p>
            <a:pPr>
              <a:spcBef>
                <a:spcPts val="200"/>
              </a:spcBef>
              <a:defRPr sz="1050">
                <a:solidFill>
                  <a:srgbClr val="3C3C41"/>
                </a:solidFill>
                <a:latin typeface="Mulish"/>
              </a:defRPr>
            </a:pPr>
            <a:r>
              <a:rPr lang="en-US" dirty="0"/>
              <a:t>Multi Dimensional STEAM Career Guidance &amp; Hyper-local Innovation Platform</a:t>
            </a:r>
          </a:p>
          <a:p>
            <a:pPr>
              <a:spcBef>
                <a:spcPts val="1000"/>
              </a:spcBef>
              <a:defRPr sz="1100" b="1">
                <a:solidFill>
                  <a:srgbClr val="353334"/>
                </a:solidFill>
                <a:latin typeface="Fjalla One"/>
              </a:defRPr>
            </a:pPr>
            <a:r>
              <a:rPr dirty="0"/>
              <a:t>TRACK</a:t>
            </a:r>
          </a:p>
          <a:p>
            <a:pPr>
              <a:spcBef>
                <a:spcPts val="200"/>
              </a:spcBef>
              <a:defRPr sz="1050" b="1">
                <a:solidFill>
                  <a:srgbClr val="079ED2"/>
                </a:solidFill>
                <a:latin typeface="Mulish"/>
              </a:defRPr>
            </a:pPr>
            <a:r>
              <a:rPr lang="en-IN" sz="1050" b="1" dirty="0">
                <a:solidFill>
                  <a:srgbClr val="079ED2"/>
                </a:solidFill>
                <a:latin typeface="Mulish"/>
              </a:rPr>
              <a:t>AI-based career guidance system</a:t>
            </a:r>
            <a:endParaRPr dirty="0"/>
          </a:p>
        </p:txBody>
      </p:sp>
      <p:sp>
        <p:nvSpPr>
          <p:cNvPr id="33" name="Rounded Rectangle 32"/>
          <p:cNvSpPr/>
          <p:nvPr/>
        </p:nvSpPr>
        <p:spPr>
          <a:xfrm>
            <a:off x="6492240" y="3246120"/>
            <a:ext cx="4572000" cy="29260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812280" y="311810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TEAM &amp; MEMBERS</a:t>
            </a:r>
          </a:p>
        </p:txBody>
      </p:sp>
      <p:sp>
        <p:nvSpPr>
          <p:cNvPr id="35" name="TextBox 34"/>
          <p:cNvSpPr txBox="1"/>
          <p:nvPr/>
        </p:nvSpPr>
        <p:spPr>
          <a:xfrm>
            <a:off x="6766560" y="3520440"/>
            <a:ext cx="4023360" cy="2141612"/>
          </a:xfrm>
          <a:prstGeom prst="rect">
            <a:avLst/>
          </a:prstGeom>
          <a:noFill/>
        </p:spPr>
        <p:txBody>
          <a:bodyPr wrap="square">
            <a:spAutoFit/>
          </a:bodyPr>
          <a:lstStyle/>
          <a:p>
            <a:pPr>
              <a:defRPr sz="1100" b="1">
                <a:solidFill>
                  <a:srgbClr val="353334"/>
                </a:solidFill>
                <a:latin typeface="Fjalla One"/>
              </a:defRPr>
            </a:pPr>
            <a:r>
              <a:rPr dirty="0"/>
              <a:t>TEAM</a:t>
            </a:r>
          </a:p>
          <a:p>
            <a:pPr>
              <a:spcBef>
                <a:spcPts val="200"/>
              </a:spcBef>
              <a:defRPr sz="1600" b="1">
                <a:solidFill>
                  <a:srgbClr val="353334"/>
                </a:solidFill>
                <a:latin typeface="Fjalla One"/>
              </a:defRPr>
            </a:pPr>
            <a:r>
              <a:rPr lang="en-IN" dirty="0" err="1"/>
              <a:t>Kanimangalam</a:t>
            </a:r>
            <a:endParaRPr dirty="0"/>
          </a:p>
          <a:p>
            <a:pPr>
              <a:spcBef>
                <a:spcPts val="1000"/>
              </a:spcBef>
              <a:defRPr sz="1100" b="1">
                <a:solidFill>
                  <a:srgbClr val="353334"/>
                </a:solidFill>
                <a:latin typeface="Fjalla One"/>
              </a:defRPr>
            </a:pPr>
            <a:r>
              <a:rPr dirty="0"/>
              <a:t>PARTICIPANTS</a:t>
            </a:r>
          </a:p>
          <a:p>
            <a:pPr>
              <a:spcBef>
                <a:spcPts val="200"/>
              </a:spcBef>
              <a:defRPr sz="1050">
                <a:solidFill>
                  <a:srgbClr val="3C3C41"/>
                </a:solidFill>
                <a:latin typeface="Mulish"/>
              </a:defRPr>
            </a:pPr>
            <a:r>
              <a:rPr dirty="0"/>
              <a:t>•  </a:t>
            </a:r>
            <a:r>
              <a:rPr lang="en-IN" dirty="0"/>
              <a:t>Gowtham Chakrapani H – 26BRS1103</a:t>
            </a:r>
            <a:endParaRPr dirty="0"/>
          </a:p>
          <a:p>
            <a:pPr>
              <a:spcBef>
                <a:spcPts val="200"/>
              </a:spcBef>
              <a:defRPr sz="1050">
                <a:solidFill>
                  <a:srgbClr val="3C3C41"/>
                </a:solidFill>
                <a:latin typeface="Mulish"/>
              </a:defRPr>
            </a:pPr>
            <a:r>
              <a:rPr dirty="0"/>
              <a:t>•  </a:t>
            </a:r>
            <a:r>
              <a:rPr lang="en-IN" dirty="0"/>
              <a:t>Gautham Kesav K – 26BME1113</a:t>
            </a:r>
            <a:endParaRPr dirty="0"/>
          </a:p>
          <a:p>
            <a:pPr>
              <a:spcBef>
                <a:spcPts val="200"/>
              </a:spcBef>
              <a:defRPr sz="1050">
                <a:solidFill>
                  <a:srgbClr val="3C3C41"/>
                </a:solidFill>
                <a:latin typeface="Mulish"/>
              </a:defRPr>
            </a:pPr>
            <a:r>
              <a:rPr dirty="0"/>
              <a:t>•  </a:t>
            </a:r>
            <a:r>
              <a:rPr lang="en-IN" dirty="0"/>
              <a:t>Goutham </a:t>
            </a:r>
            <a:r>
              <a:rPr lang="en-IN" dirty="0" err="1"/>
              <a:t>Lijin</a:t>
            </a:r>
            <a:r>
              <a:rPr lang="en-IN" dirty="0"/>
              <a:t> – 26BAI1533</a:t>
            </a:r>
            <a:endParaRPr dirty="0"/>
          </a:p>
          <a:p>
            <a:pPr>
              <a:spcBef>
                <a:spcPts val="200"/>
              </a:spcBef>
              <a:defRPr sz="1050">
                <a:solidFill>
                  <a:srgbClr val="3C3C41"/>
                </a:solidFill>
                <a:latin typeface="Mulish"/>
              </a:defRPr>
            </a:pPr>
            <a:r>
              <a:rPr lang="en-IN" dirty="0"/>
              <a:t>•  </a:t>
            </a:r>
            <a:r>
              <a:rPr lang="en-IN" dirty="0" err="1"/>
              <a:t>Abhinavdath</a:t>
            </a:r>
            <a:r>
              <a:rPr lang="en-IN" dirty="0"/>
              <a:t> K S – 26BCE1394</a:t>
            </a:r>
          </a:p>
          <a:p>
            <a:pPr>
              <a:spcBef>
                <a:spcPts val="200"/>
              </a:spcBef>
              <a:defRPr sz="1050">
                <a:solidFill>
                  <a:srgbClr val="3C3C41"/>
                </a:solidFill>
                <a:latin typeface="Mulish"/>
              </a:defRPr>
            </a:pPr>
            <a:r>
              <a:rPr lang="en-IN" dirty="0"/>
              <a:t>•  Bevel M Joseph – 26BCE1431</a:t>
            </a:r>
          </a:p>
          <a:p>
            <a:pPr>
              <a:spcBef>
                <a:spcPts val="200"/>
              </a:spcBef>
              <a:defRPr sz="1050">
                <a:solidFill>
                  <a:srgbClr val="3C3C41"/>
                </a:solidFill>
                <a:latin typeface="Mulish"/>
              </a:defRPr>
            </a:pPr>
            <a:r>
              <a:rPr lang="en-IN" dirty="0"/>
              <a:t>•  </a:t>
            </a:r>
            <a:r>
              <a:rPr lang="en-IN" dirty="0" err="1"/>
              <a:t>Hidhash</a:t>
            </a:r>
            <a:r>
              <a:rPr lang="en-IN" dirty="0"/>
              <a:t> N P – 26BQC1025</a:t>
            </a:r>
          </a:p>
          <a:p>
            <a:pPr>
              <a:spcBef>
                <a:spcPts val="200"/>
              </a:spcBef>
              <a:defRPr sz="1050">
                <a:solidFill>
                  <a:srgbClr val="3C3C41"/>
                </a:solidFill>
                <a:latin typeface="Mulish"/>
              </a:defRPr>
            </a:pPr>
            <a:endParaRPr dirty="0"/>
          </a:p>
        </p:txBody>
      </p:sp>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02  </a:t>
            </a:r>
            <a:r>
              <a:rPr sz="3200" b="1">
                <a:solidFill>
                  <a:srgbClr val="353334"/>
                </a:solidFill>
                <a:latin typeface="Fjalla One"/>
              </a:rPr>
              <a:t>Problem Definition</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Who is impacted · Today's workarounds · Why current methods fail · Concrete proof</a:t>
            </a:r>
          </a:p>
        </p:txBody>
      </p:sp>
      <p:sp>
        <p:nvSpPr>
          <p:cNvPr id="24" name="Rounded Rectangle 23"/>
          <p:cNvSpPr/>
          <p:nvPr/>
        </p:nvSpPr>
        <p:spPr>
          <a:xfrm>
            <a:off x="164592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92938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01 · AUDIENCE</a:t>
            </a:r>
          </a:p>
        </p:txBody>
      </p:sp>
      <p:sp>
        <p:nvSpPr>
          <p:cNvPr id="26" name="TextBox 25"/>
          <p:cNvSpPr txBox="1"/>
          <p:nvPr/>
        </p:nvSpPr>
        <p:spPr>
          <a:xfrm>
            <a:off x="1920240" y="2313432"/>
            <a:ext cx="4023360" cy="1574790"/>
          </a:xfrm>
          <a:prstGeom prst="rect">
            <a:avLst/>
          </a:prstGeom>
          <a:noFill/>
        </p:spPr>
        <p:txBody>
          <a:bodyPr wrap="square">
            <a:spAutoFit/>
          </a:bodyPr>
          <a:lstStyle/>
          <a:p>
            <a:pPr>
              <a:defRPr sz="1300" b="1">
                <a:solidFill>
                  <a:srgbClr val="353334"/>
                </a:solidFill>
                <a:latin typeface="Fjalla One"/>
              </a:defRPr>
            </a:pPr>
            <a:r>
              <a:rPr sz="1300" dirty="0"/>
              <a:t>WHO &amp; HOW OFTEN</a:t>
            </a:r>
          </a:p>
          <a:p>
            <a:r>
              <a:rPr lang="en-IN" sz="1200" dirty="0">
                <a:latin typeface="Mulish"/>
              </a:rPr>
              <a:t>Who: Students, parents, educators and career counsellors.</a:t>
            </a:r>
          </a:p>
          <a:p>
            <a:r>
              <a:rPr lang="en-IN" sz="1200" dirty="0">
                <a:latin typeface="Mulish"/>
              </a:rPr>
              <a:t>How often: Students make career decisions at times like after finishing Class 10 after finishing Class 12 while in college and before graduating. Students also often need information, about job demand, salaries, scholarships, entrance exams and career opportunities.</a:t>
            </a:r>
          </a:p>
          <a:p>
            <a:pPr>
              <a:spcBef>
                <a:spcPts val="400"/>
              </a:spcBef>
              <a:defRPr sz="1000">
                <a:solidFill>
                  <a:srgbClr val="3C3C41"/>
                </a:solidFill>
                <a:latin typeface="Mulish"/>
              </a:defRPr>
            </a:pPr>
            <a:endParaRPr sz="800" dirty="0"/>
          </a:p>
        </p:txBody>
      </p:sp>
      <p:sp>
        <p:nvSpPr>
          <p:cNvPr id="27" name="Rounded Rectangle 26"/>
          <p:cNvSpPr/>
          <p:nvPr/>
        </p:nvSpPr>
        <p:spPr>
          <a:xfrm>
            <a:off x="649224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12280" y="192938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02 · STATUS QUO</a:t>
            </a:r>
          </a:p>
        </p:txBody>
      </p:sp>
      <p:sp>
        <p:nvSpPr>
          <p:cNvPr id="29" name="TextBox 28"/>
          <p:cNvSpPr txBox="1"/>
          <p:nvPr/>
        </p:nvSpPr>
        <p:spPr>
          <a:xfrm>
            <a:off x="6766560" y="2313432"/>
            <a:ext cx="4023360" cy="1585049"/>
          </a:xfrm>
          <a:prstGeom prst="rect">
            <a:avLst/>
          </a:prstGeom>
          <a:noFill/>
        </p:spPr>
        <p:txBody>
          <a:bodyPr wrap="square">
            <a:spAutoFit/>
          </a:bodyPr>
          <a:lstStyle/>
          <a:p>
            <a:pPr>
              <a:defRPr sz="1300" b="1">
                <a:solidFill>
                  <a:srgbClr val="353334"/>
                </a:solidFill>
                <a:latin typeface="Fjalla One"/>
              </a:defRPr>
            </a:pPr>
            <a:r>
              <a:rPr dirty="0"/>
              <a:t>CURRENT APPROACH</a:t>
            </a:r>
          </a:p>
          <a:p>
            <a:r>
              <a:rPr lang="en-US" sz="1050" dirty="0">
                <a:latin typeface="Mulish"/>
              </a:rPr>
              <a:t>Today career planning is mostly done by searching the internet talking with career advisers looking at college websites checking ranking sites and listening to parents, teachers and friends. Students must hand‑check courses, colleges, salaries, job demand, entrance tests, scholarships and fees, from many different places. These ways take a lot of time feel broken up and usually ignore the students’ interests the family’s money and the current needs of the job market all together. Career planning should look at all those things at once.</a:t>
            </a:r>
            <a:endParaRPr dirty="0"/>
          </a:p>
        </p:txBody>
      </p:sp>
      <p:sp>
        <p:nvSpPr>
          <p:cNvPr id="30" name="Rounded Rectangle 29"/>
          <p:cNvSpPr/>
          <p:nvPr/>
        </p:nvSpPr>
        <p:spPr>
          <a:xfrm>
            <a:off x="164592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426110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03 · DEFICIENCY</a:t>
            </a:r>
          </a:p>
        </p:txBody>
      </p:sp>
      <p:sp>
        <p:nvSpPr>
          <p:cNvPr id="32" name="TextBox 31"/>
          <p:cNvSpPr txBox="1"/>
          <p:nvPr/>
        </p:nvSpPr>
        <p:spPr>
          <a:xfrm>
            <a:off x="1920240" y="4645152"/>
            <a:ext cx="4023360" cy="1769715"/>
          </a:xfrm>
          <a:prstGeom prst="rect">
            <a:avLst/>
          </a:prstGeom>
          <a:noFill/>
        </p:spPr>
        <p:txBody>
          <a:bodyPr wrap="square">
            <a:spAutoFit/>
          </a:bodyPr>
          <a:lstStyle/>
          <a:p>
            <a:pPr>
              <a:defRPr sz="1300" b="1">
                <a:solidFill>
                  <a:srgbClr val="353334"/>
                </a:solidFill>
                <a:latin typeface="Fjalla One"/>
              </a:defRPr>
            </a:pPr>
            <a:r>
              <a:rPr dirty="0"/>
              <a:t>WHY IT FALLS SHORT</a:t>
            </a:r>
          </a:p>
          <a:p>
            <a:r>
              <a:rPr lang="en-IN" sz="1200" dirty="0">
                <a:latin typeface="Mulish"/>
              </a:rPr>
              <a:t>The current approach takes a time feels broken up and is hard to tailor for each person. Students must. Compare data from many sources, which can cause students to receive old or missing information and make poor career choices.</a:t>
            </a:r>
          </a:p>
          <a:p>
            <a:r>
              <a:rPr lang="en-IN" sz="1200" dirty="0">
                <a:latin typeface="Mulish"/>
              </a:rPr>
              <a:t>It also does not efficiently combine student interests, money limits, local job demand, salaries and scholarships, in a system making the whole process difficult to grow and tailor for each student.</a:t>
            </a:r>
          </a:p>
        </p:txBody>
      </p:sp>
      <p:sp>
        <p:nvSpPr>
          <p:cNvPr id="33" name="Rounded Rectangle 32"/>
          <p:cNvSpPr/>
          <p:nvPr/>
        </p:nvSpPr>
        <p:spPr>
          <a:xfrm>
            <a:off x="649224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812280" y="426110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04 · VALIDATION</a:t>
            </a:r>
          </a:p>
        </p:txBody>
      </p:sp>
      <p:sp>
        <p:nvSpPr>
          <p:cNvPr id="35" name="TextBox 34"/>
          <p:cNvSpPr txBox="1"/>
          <p:nvPr/>
        </p:nvSpPr>
        <p:spPr>
          <a:xfrm>
            <a:off x="6766560" y="4645152"/>
            <a:ext cx="4023360" cy="1908215"/>
          </a:xfrm>
          <a:prstGeom prst="rect">
            <a:avLst/>
          </a:prstGeom>
          <a:noFill/>
        </p:spPr>
        <p:txBody>
          <a:bodyPr wrap="square">
            <a:spAutoFit/>
          </a:bodyPr>
          <a:lstStyle/>
          <a:p>
            <a:pPr>
              <a:defRPr sz="1300" b="1">
                <a:solidFill>
                  <a:srgbClr val="353334"/>
                </a:solidFill>
                <a:latin typeface="Fjalla One"/>
              </a:defRPr>
            </a:pPr>
            <a:r>
              <a:rPr dirty="0"/>
              <a:t>EVIDENCE</a:t>
            </a:r>
          </a:p>
          <a:p>
            <a:r>
              <a:rPr lang="en-IN" sz="1050" dirty="0">
                <a:latin typeface="Mulish"/>
              </a:rPr>
              <a:t>42.6% of Indian graduates were found to be ready for work according to Mercer | Mettl’s 2025 Graduate Skill Index using data from more than 1 million students across 2,700 campuses.</a:t>
            </a:r>
          </a:p>
          <a:p>
            <a:r>
              <a:rPr lang="en-IN" sz="1050" dirty="0">
                <a:latin typeface="Mulish"/>
              </a:rPr>
              <a:t>A 2024 IC3 Institute survey showed that 25% of students in India did not have access to career counselling and another 7% did not have counselling support.</a:t>
            </a:r>
          </a:p>
          <a:p>
            <a:r>
              <a:rPr lang="en-IN" sz="1050" dirty="0">
                <a:latin typeface="Mulish"/>
              </a:rPr>
              <a:t>These results show a gap between what is taught in schools what students need for their careers and what the job market requires. This supports the need for a career-planning system, like PRISM that is tailored to each person.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03  </a:t>
            </a:r>
            <a:r>
              <a:rPr sz="3200" b="1">
                <a:solidFill>
                  <a:srgbClr val="353334"/>
                </a:solidFill>
                <a:latin typeface="Fjalla One"/>
              </a:rPr>
              <a:t>Proposed Solution</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System identity · End-to-end user workflow · Competitive advantages</a:t>
            </a:r>
          </a:p>
        </p:txBody>
      </p:sp>
      <p:sp>
        <p:nvSpPr>
          <p:cNvPr id="24" name="Rounded Rectangle 23"/>
          <p:cNvSpPr/>
          <p:nvPr/>
        </p:nvSpPr>
        <p:spPr>
          <a:xfrm>
            <a:off x="1645920" y="2011680"/>
            <a:ext cx="9418320" cy="11887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SOLUTION CORE</a:t>
            </a:r>
          </a:p>
        </p:txBody>
      </p:sp>
      <p:sp>
        <p:nvSpPr>
          <p:cNvPr id="26" name="TextBox 25"/>
          <p:cNvSpPr txBox="1"/>
          <p:nvPr/>
        </p:nvSpPr>
        <p:spPr>
          <a:xfrm>
            <a:off x="1920240" y="2194560"/>
            <a:ext cx="8869680" cy="884858"/>
          </a:xfrm>
          <a:prstGeom prst="rect">
            <a:avLst/>
          </a:prstGeom>
          <a:noFill/>
        </p:spPr>
        <p:txBody>
          <a:bodyPr wrap="square">
            <a:spAutoFit/>
          </a:bodyPr>
          <a:lstStyle/>
          <a:p>
            <a:pPr>
              <a:defRPr sz="1600" b="1">
                <a:solidFill>
                  <a:srgbClr val="353334"/>
                </a:solidFill>
                <a:latin typeface="Fjalla One"/>
              </a:defRPr>
            </a:pPr>
            <a:r>
              <a:rPr lang="en-IN" dirty="0"/>
              <a:t>PRISM</a:t>
            </a:r>
          </a:p>
          <a:p>
            <a:pPr>
              <a:spcBef>
                <a:spcPts val="300"/>
              </a:spcBef>
              <a:defRPr sz="1000">
                <a:solidFill>
                  <a:srgbClr val="3C3C41"/>
                </a:solidFill>
                <a:latin typeface="Mulish"/>
              </a:defRPr>
            </a:pPr>
            <a:r>
              <a:rPr lang="en-IN" sz="1100" dirty="0">
                <a:solidFill>
                  <a:srgbClr val="3C3C41"/>
                </a:solidFill>
                <a:latin typeface="Mulish"/>
              </a:rPr>
              <a:t>PRISM is a career guidance tool that uses intelligence. It looks at what students are good at and what they like. It also considers what their families need. It checks ways to get an education. It looks at what jobs are available right now. All of these things help create career paths that work for students. These paths are in science, technology, engineering, arts and math. The paths are also good, for money.</a:t>
            </a:r>
            <a:endParaRPr lang="en-US" sz="1100" dirty="0"/>
          </a:p>
        </p:txBody>
      </p:sp>
      <p:sp>
        <p:nvSpPr>
          <p:cNvPr id="27" name="Rounded Rectangle 26"/>
          <p:cNvSpPr/>
          <p:nvPr/>
        </p:nvSpPr>
        <p:spPr>
          <a:xfrm>
            <a:off x="1645920" y="3383280"/>
            <a:ext cx="9418320" cy="1280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965960" y="325526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USER FLOW</a:t>
            </a:r>
          </a:p>
        </p:txBody>
      </p:sp>
      <p:sp>
        <p:nvSpPr>
          <p:cNvPr id="29" name="Rounded Rectangle 28"/>
          <p:cNvSpPr/>
          <p:nvPr/>
        </p:nvSpPr>
        <p:spPr>
          <a:xfrm>
            <a:off x="1920240" y="3822192"/>
            <a:ext cx="2560320" cy="640080"/>
          </a:xfrm>
          <a:prstGeom prst="roundRect">
            <a:avLst>
              <a:gd name="adj" fmla="val 8000"/>
            </a:avLst>
          </a:prstGeom>
          <a:solidFill>
            <a:srgbClr val="FFFFFF"/>
          </a:solidFill>
          <a:ln w="19050">
            <a:solidFill>
              <a:srgbClr val="079ED2"/>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rPr dirty="0"/>
              <a:t>1. USER INPUT</a:t>
            </a:r>
          </a:p>
          <a:p>
            <a:pPr algn="ctr">
              <a:defRPr sz="850">
                <a:solidFill>
                  <a:srgbClr val="3C3C41"/>
                </a:solidFill>
                <a:latin typeface="Mulish"/>
              </a:defRPr>
            </a:pPr>
            <a:r>
              <a:rPr lang="en-IN" sz="1050" dirty="0"/>
              <a:t>Student Profile, Parent profile, Preferences</a:t>
            </a:r>
            <a:endParaRPr sz="1050" dirty="0"/>
          </a:p>
        </p:txBody>
      </p:sp>
      <p:sp>
        <p:nvSpPr>
          <p:cNvPr id="30" name="TextBox 29"/>
          <p:cNvSpPr txBox="1"/>
          <p:nvPr/>
        </p:nvSpPr>
        <p:spPr>
          <a:xfrm>
            <a:off x="4590288" y="3931920"/>
            <a:ext cx="329184" cy="365760"/>
          </a:xfrm>
          <a:prstGeom prst="rect">
            <a:avLst/>
          </a:prstGeom>
          <a:noFill/>
        </p:spPr>
        <p:txBody>
          <a:bodyPr wrap="none" lIns="0" tIns="0" rIns="0" bIns="0">
            <a:spAutoFit/>
          </a:bodyPr>
          <a:lstStyle/>
          <a:p>
            <a:pPr algn="ctr">
              <a:defRPr sz="1800" b="1">
                <a:solidFill>
                  <a:srgbClr val="353334"/>
                </a:solidFill>
                <a:latin typeface="Mulish"/>
              </a:defRPr>
            </a:pPr>
            <a:r>
              <a:t>➔</a:t>
            </a:r>
          </a:p>
        </p:txBody>
      </p:sp>
      <p:sp>
        <p:nvSpPr>
          <p:cNvPr id="31" name="Rounded Rectangle 30"/>
          <p:cNvSpPr/>
          <p:nvPr/>
        </p:nvSpPr>
        <p:spPr>
          <a:xfrm>
            <a:off x="5029200" y="3822192"/>
            <a:ext cx="2560320" cy="640080"/>
          </a:xfrm>
          <a:prstGeom prst="roundRect">
            <a:avLst>
              <a:gd name="adj" fmla="val 8000"/>
            </a:avLst>
          </a:prstGeom>
          <a:solidFill>
            <a:srgbClr val="FFFFFF"/>
          </a:solidFill>
          <a:ln w="19050">
            <a:solidFill>
              <a:srgbClr val="FFB903"/>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rPr dirty="0"/>
              <a:t>2. PROCESSING</a:t>
            </a:r>
          </a:p>
          <a:p>
            <a:pPr algn="ctr">
              <a:defRPr sz="850">
                <a:solidFill>
                  <a:srgbClr val="3C3C41"/>
                </a:solidFill>
                <a:latin typeface="Mulish"/>
              </a:defRPr>
            </a:pPr>
            <a:r>
              <a:rPr lang="en-IN" sz="1050" dirty="0"/>
              <a:t>Vectorization, Career Matching, Financial Check, Market Analysis, Career Ranking</a:t>
            </a:r>
            <a:endParaRPr sz="1050" dirty="0"/>
          </a:p>
        </p:txBody>
      </p:sp>
      <p:sp>
        <p:nvSpPr>
          <p:cNvPr id="32" name="TextBox 31"/>
          <p:cNvSpPr txBox="1"/>
          <p:nvPr/>
        </p:nvSpPr>
        <p:spPr>
          <a:xfrm>
            <a:off x="7699248" y="3931920"/>
            <a:ext cx="329184" cy="365760"/>
          </a:xfrm>
          <a:prstGeom prst="rect">
            <a:avLst/>
          </a:prstGeom>
          <a:noFill/>
        </p:spPr>
        <p:txBody>
          <a:bodyPr wrap="none" lIns="0" tIns="0" rIns="0" bIns="0">
            <a:spAutoFit/>
          </a:bodyPr>
          <a:lstStyle/>
          <a:p>
            <a:pPr algn="ctr">
              <a:defRPr sz="1800" b="1">
                <a:solidFill>
                  <a:srgbClr val="353334"/>
                </a:solidFill>
                <a:latin typeface="Mulish"/>
              </a:defRPr>
            </a:pPr>
            <a:r>
              <a:t>➔</a:t>
            </a:r>
          </a:p>
        </p:txBody>
      </p:sp>
      <p:sp>
        <p:nvSpPr>
          <p:cNvPr id="33" name="Rounded Rectangle 32"/>
          <p:cNvSpPr/>
          <p:nvPr/>
        </p:nvSpPr>
        <p:spPr>
          <a:xfrm>
            <a:off x="8138160" y="3822192"/>
            <a:ext cx="2560320" cy="640080"/>
          </a:xfrm>
          <a:prstGeom prst="roundRect">
            <a:avLst>
              <a:gd name="adj" fmla="val 8000"/>
            </a:avLst>
          </a:prstGeom>
          <a:solidFill>
            <a:srgbClr val="FFFFFF"/>
          </a:solidFill>
          <a:ln w="19050">
            <a:solidFill>
              <a:srgbClr val="FD1485"/>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rPr dirty="0"/>
              <a:t>3. OUTPUT</a:t>
            </a:r>
          </a:p>
          <a:p>
            <a:pPr algn="ctr">
              <a:defRPr sz="850">
                <a:solidFill>
                  <a:srgbClr val="3C3C41"/>
                </a:solidFill>
                <a:latin typeface="Mulish"/>
              </a:defRPr>
            </a:pPr>
            <a:r>
              <a:rPr lang="en-IN" sz="1050" dirty="0"/>
              <a:t>Top Careers, Compatibility, Financial Fit, Skill Gaps, Career Roadmap</a:t>
            </a:r>
            <a:endParaRPr sz="1050" dirty="0"/>
          </a:p>
        </p:txBody>
      </p:sp>
      <p:sp>
        <p:nvSpPr>
          <p:cNvPr id="34" name="Rounded Rectangle 33"/>
          <p:cNvSpPr/>
          <p:nvPr/>
        </p:nvSpPr>
        <p:spPr>
          <a:xfrm>
            <a:off x="1645920" y="4846320"/>
            <a:ext cx="4572000" cy="16916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965960" y="471830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ADVANTAGE</a:t>
            </a:r>
          </a:p>
        </p:txBody>
      </p:sp>
      <p:sp>
        <p:nvSpPr>
          <p:cNvPr id="36" name="TextBox 35"/>
          <p:cNvSpPr txBox="1"/>
          <p:nvPr/>
        </p:nvSpPr>
        <p:spPr>
          <a:xfrm>
            <a:off x="1920240" y="5074920"/>
            <a:ext cx="4023360" cy="800219"/>
          </a:xfrm>
          <a:prstGeom prst="rect">
            <a:avLst/>
          </a:prstGeom>
          <a:noFill/>
        </p:spPr>
        <p:txBody>
          <a:bodyPr wrap="square">
            <a:spAutoFit/>
          </a:bodyPr>
          <a:lstStyle/>
          <a:p>
            <a:pPr>
              <a:defRPr sz="1200" b="1">
                <a:solidFill>
                  <a:srgbClr val="353334"/>
                </a:solidFill>
                <a:latin typeface="Fjalla One"/>
              </a:defRPr>
            </a:pPr>
            <a:r>
              <a:rPr dirty="0"/>
              <a:t>WHY IT IS BETTER</a:t>
            </a:r>
            <a:endParaRPr lang="en-IN" dirty="0"/>
          </a:p>
          <a:p>
            <a:pPr>
              <a:spcBef>
                <a:spcPts val="300"/>
              </a:spcBef>
              <a:defRPr sz="1000">
                <a:solidFill>
                  <a:srgbClr val="3C3C41"/>
                </a:solidFill>
                <a:latin typeface="Mulish"/>
              </a:defRPr>
            </a:pPr>
            <a:r>
              <a:rPr lang="en-US" sz="1050" dirty="0"/>
              <a:t>PRISM moves beyond interest-based career prediction by combining student potential, family feasibility, and real-world market demand to generate practical and future-ready career pathways.</a:t>
            </a:r>
          </a:p>
        </p:txBody>
      </p:sp>
      <p:sp>
        <p:nvSpPr>
          <p:cNvPr id="37" name="Rounded Rectangle 36"/>
          <p:cNvSpPr/>
          <p:nvPr/>
        </p:nvSpPr>
        <p:spPr>
          <a:xfrm>
            <a:off x="6492240" y="4846320"/>
            <a:ext cx="4572000" cy="16916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812280" y="471830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INNOVATION</a:t>
            </a:r>
          </a:p>
        </p:txBody>
      </p:sp>
      <p:sp>
        <p:nvSpPr>
          <p:cNvPr id="39" name="TextBox 38"/>
          <p:cNvSpPr txBox="1"/>
          <p:nvPr/>
        </p:nvSpPr>
        <p:spPr>
          <a:xfrm>
            <a:off x="6766560" y="5074920"/>
            <a:ext cx="4023360" cy="800219"/>
          </a:xfrm>
          <a:prstGeom prst="rect">
            <a:avLst/>
          </a:prstGeom>
          <a:noFill/>
        </p:spPr>
        <p:txBody>
          <a:bodyPr wrap="square">
            <a:spAutoFit/>
          </a:bodyPr>
          <a:lstStyle/>
          <a:p>
            <a:pPr>
              <a:defRPr sz="1200" b="1">
                <a:solidFill>
                  <a:srgbClr val="353334"/>
                </a:solidFill>
                <a:latin typeface="Fjalla One"/>
              </a:defRPr>
            </a:pPr>
            <a:r>
              <a:rPr dirty="0"/>
              <a:t>WHAT IS DIFFERENT</a:t>
            </a:r>
          </a:p>
          <a:p>
            <a:pPr>
              <a:spcBef>
                <a:spcPts val="300"/>
              </a:spcBef>
              <a:defRPr sz="1000">
                <a:solidFill>
                  <a:srgbClr val="3C3C41"/>
                </a:solidFill>
                <a:latin typeface="Mulish"/>
              </a:defRPr>
            </a:pPr>
            <a:r>
              <a:rPr lang="en-US" sz="1050" dirty="0"/>
              <a:t>Unlike conventional career guidance, PRISM doesn't just ask what a student is good at—it asks what the student is good at, what the family can support, and where the future opportunities are.</a:t>
            </a:r>
            <a:endParaRPr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04  </a:t>
            </a:r>
            <a:r>
              <a:rPr sz="3200" b="1">
                <a:solidFill>
                  <a:srgbClr val="353334"/>
                </a:solidFill>
                <a:latin typeface="Fjalla One"/>
              </a:rPr>
              <a:t>System Architecture</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System diagram is the primary visual · Engineering decisions · Validation</a:t>
            </a:r>
          </a:p>
        </p:txBody>
      </p:sp>
      <p:sp>
        <p:nvSpPr>
          <p:cNvPr id="24" name="Rounded Rectangle 23"/>
          <p:cNvSpPr/>
          <p:nvPr/>
        </p:nvSpPr>
        <p:spPr>
          <a:xfrm>
            <a:off x="1645920" y="2011680"/>
            <a:ext cx="9418320" cy="26517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SYSTEM DIAGRAM</a:t>
            </a:r>
          </a:p>
        </p:txBody>
      </p:sp>
      <p:sp>
        <p:nvSpPr>
          <p:cNvPr id="26" name="Rounded Rectangle 25"/>
          <p:cNvSpPr/>
          <p:nvPr/>
        </p:nvSpPr>
        <p:spPr>
          <a:xfrm>
            <a:off x="1920240" y="2331720"/>
            <a:ext cx="8869680" cy="2148840"/>
          </a:xfrm>
          <a:prstGeom prst="roundRect">
            <a:avLst>
              <a:gd name="adj" fmla="val 3500"/>
            </a:avLst>
          </a:prstGeom>
          <a:solidFill>
            <a:srgbClr val="FFFFF1"/>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645920" y="4892040"/>
            <a:ext cx="297180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965960" y="476402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TECH 01</a:t>
            </a:r>
          </a:p>
        </p:txBody>
      </p:sp>
      <p:sp>
        <p:nvSpPr>
          <p:cNvPr id="30" name="TextBox 29"/>
          <p:cNvSpPr txBox="1"/>
          <p:nvPr/>
        </p:nvSpPr>
        <p:spPr>
          <a:xfrm>
            <a:off x="1828800" y="5093208"/>
            <a:ext cx="2606040" cy="1177245"/>
          </a:xfrm>
          <a:prstGeom prst="rect">
            <a:avLst/>
          </a:prstGeom>
          <a:noFill/>
        </p:spPr>
        <p:txBody>
          <a:bodyPr wrap="square">
            <a:spAutoFit/>
          </a:bodyPr>
          <a:lstStyle/>
          <a:p>
            <a:pPr>
              <a:defRPr sz="1100" b="1">
                <a:solidFill>
                  <a:srgbClr val="353334"/>
                </a:solidFill>
                <a:latin typeface="Fjalla One"/>
              </a:defRPr>
            </a:pPr>
            <a:r>
              <a:rPr dirty="0"/>
              <a:t>KEY TECHNICAL DECISION</a:t>
            </a:r>
          </a:p>
          <a:p>
            <a:pPr>
              <a:spcBef>
                <a:spcPts val="300"/>
              </a:spcBef>
              <a:defRPr sz="950">
                <a:solidFill>
                  <a:srgbClr val="3C3C41"/>
                </a:solidFill>
                <a:latin typeface="Mulish"/>
              </a:defRPr>
            </a:pPr>
            <a:r>
              <a:rPr lang="en-IN" sz="950" dirty="0">
                <a:solidFill>
                  <a:srgbClr val="3C3C41"/>
                </a:solidFill>
                <a:latin typeface="Mulish"/>
              </a:rPr>
              <a:t>It takes student aptitude, family constraints, career requirements and job-market data. It uses normalized scoring and constraint checking to rank career pathways. This helps match each student with the possible career path based on their unique situation.</a:t>
            </a:r>
            <a:endParaRPr sz="1050" dirty="0"/>
          </a:p>
        </p:txBody>
      </p:sp>
      <p:sp>
        <p:nvSpPr>
          <p:cNvPr id="31" name="Rounded Rectangle 30"/>
          <p:cNvSpPr/>
          <p:nvPr/>
        </p:nvSpPr>
        <p:spPr>
          <a:xfrm>
            <a:off x="4864608" y="4892040"/>
            <a:ext cx="297180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2" name="Rounded Rectangle 31"/>
          <p:cNvSpPr/>
          <p:nvPr/>
        </p:nvSpPr>
        <p:spPr>
          <a:xfrm>
            <a:off x="5184648" y="476402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TECH 02</a:t>
            </a:r>
          </a:p>
        </p:txBody>
      </p:sp>
      <p:sp>
        <p:nvSpPr>
          <p:cNvPr id="33" name="TextBox 32"/>
          <p:cNvSpPr txBox="1"/>
          <p:nvPr/>
        </p:nvSpPr>
        <p:spPr>
          <a:xfrm>
            <a:off x="5047488" y="5093208"/>
            <a:ext cx="2606040" cy="1031051"/>
          </a:xfrm>
          <a:prstGeom prst="rect">
            <a:avLst/>
          </a:prstGeom>
          <a:noFill/>
        </p:spPr>
        <p:txBody>
          <a:bodyPr wrap="square">
            <a:spAutoFit/>
          </a:bodyPr>
          <a:lstStyle/>
          <a:p>
            <a:pPr>
              <a:defRPr sz="1100" b="1">
                <a:solidFill>
                  <a:srgbClr val="353334"/>
                </a:solidFill>
                <a:latin typeface="Fjalla One"/>
              </a:defRPr>
            </a:pPr>
            <a:r>
              <a:rPr dirty="0"/>
              <a:t>HARDEST PART</a:t>
            </a:r>
          </a:p>
          <a:p>
            <a:pPr>
              <a:spcBef>
                <a:spcPts val="300"/>
              </a:spcBef>
              <a:defRPr sz="950">
                <a:solidFill>
                  <a:srgbClr val="3C3C41"/>
                </a:solidFill>
                <a:latin typeface="Mulish"/>
              </a:defRPr>
            </a:pPr>
            <a:r>
              <a:rPr lang="en-IN" sz="950" dirty="0">
                <a:solidFill>
                  <a:srgbClr val="3C3C41"/>
                </a:solidFill>
                <a:latin typeface="Mulish"/>
              </a:rPr>
              <a:t>Combining student abilities and student interests with family constraints and shifting career‑market conditions can lead to a single clear career ranking. This single clear career ranking helps students see where they fit best.</a:t>
            </a:r>
            <a:endParaRPr sz="1050" dirty="0"/>
          </a:p>
        </p:txBody>
      </p:sp>
      <p:sp>
        <p:nvSpPr>
          <p:cNvPr id="34" name="Rounded Rectangle 33"/>
          <p:cNvSpPr/>
          <p:nvPr/>
        </p:nvSpPr>
        <p:spPr>
          <a:xfrm>
            <a:off x="8083296" y="4892040"/>
            <a:ext cx="297180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403336" y="476402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TECH 03</a:t>
            </a:r>
          </a:p>
        </p:txBody>
      </p:sp>
      <p:sp>
        <p:nvSpPr>
          <p:cNvPr id="36" name="TextBox 35"/>
          <p:cNvSpPr txBox="1"/>
          <p:nvPr/>
        </p:nvSpPr>
        <p:spPr>
          <a:xfrm>
            <a:off x="8266176" y="5093208"/>
            <a:ext cx="2606040" cy="1469633"/>
          </a:xfrm>
          <a:prstGeom prst="rect">
            <a:avLst/>
          </a:prstGeom>
          <a:noFill/>
        </p:spPr>
        <p:txBody>
          <a:bodyPr wrap="square">
            <a:spAutoFit/>
          </a:bodyPr>
          <a:lstStyle/>
          <a:p>
            <a:pPr>
              <a:defRPr sz="1100" b="1">
                <a:solidFill>
                  <a:srgbClr val="353334"/>
                </a:solidFill>
                <a:latin typeface="Fjalla One"/>
              </a:defRPr>
            </a:pPr>
            <a:r>
              <a:rPr dirty="0"/>
              <a:t>VALIDATION</a:t>
            </a:r>
          </a:p>
          <a:p>
            <a:pPr>
              <a:spcBef>
                <a:spcPts val="300"/>
              </a:spcBef>
              <a:defRPr sz="950">
                <a:solidFill>
                  <a:srgbClr val="3C3C41"/>
                </a:solidFill>
                <a:latin typeface="Mulish"/>
              </a:defRPr>
            </a:pPr>
            <a:r>
              <a:rPr lang="en-IN" sz="950" dirty="0">
                <a:solidFill>
                  <a:srgbClr val="3C3C41"/>
                </a:solidFill>
                <a:latin typeface="Mulish"/>
              </a:rPr>
              <a:t>I tested student profiles and parent scenarios to check career ranking, financial feasibility and recommendation consistency. The tests were designed to confirm that career ranking remains accurate that financial feasibility is realistic, for each case and that recommendation consistency stays the same when different students and parents are involved.</a:t>
            </a:r>
            <a:endParaRPr dirty="0"/>
          </a:p>
        </p:txBody>
      </p:sp>
      <p:pic>
        <p:nvPicPr>
          <p:cNvPr id="38" name="Picture 37">
            <a:extLst>
              <a:ext uri="{FF2B5EF4-FFF2-40B4-BE49-F238E27FC236}">
                <a16:creationId xmlns:a16="http://schemas.microsoft.com/office/drawing/2014/main" id="{868F3D12-090D-D96C-CEC6-997A694DC4A4}"/>
              </a:ext>
            </a:extLst>
          </p:cNvPr>
          <p:cNvPicPr>
            <a:picLocks noChangeAspect="1"/>
          </p:cNvPicPr>
          <p:nvPr/>
        </p:nvPicPr>
        <p:blipFill>
          <a:blip r:embed="rId2"/>
          <a:stretch>
            <a:fillRect/>
          </a:stretch>
        </p:blipFill>
        <p:spPr>
          <a:xfrm>
            <a:off x="1920241" y="2185416"/>
            <a:ext cx="8869680" cy="24597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05  </a:t>
            </a:r>
            <a:r>
              <a:rPr sz="3200" b="1">
                <a:solidFill>
                  <a:srgbClr val="353334"/>
                </a:solidFill>
                <a:latin typeface="Fjalla One"/>
              </a:rPr>
              <a:t>Feasibility &amp; Scope</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Concrete boundaries · Operational run rate · Risk mitigation · Post-hackathon plans</a:t>
            </a:r>
          </a:p>
        </p:txBody>
      </p:sp>
      <p:sp>
        <p:nvSpPr>
          <p:cNvPr id="24" name="Rounded Rectangle 23"/>
          <p:cNvSpPr/>
          <p:nvPr/>
        </p:nvSpPr>
        <p:spPr>
          <a:xfrm>
            <a:off x="164592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92938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01 · BOUNDARIES</a:t>
            </a:r>
          </a:p>
        </p:txBody>
      </p:sp>
      <p:sp>
        <p:nvSpPr>
          <p:cNvPr id="26" name="TextBox 25"/>
          <p:cNvSpPr txBox="1"/>
          <p:nvPr/>
        </p:nvSpPr>
        <p:spPr>
          <a:xfrm>
            <a:off x="1920240" y="2313432"/>
            <a:ext cx="4023360" cy="1205458"/>
          </a:xfrm>
          <a:prstGeom prst="rect">
            <a:avLst/>
          </a:prstGeom>
          <a:noFill/>
        </p:spPr>
        <p:txBody>
          <a:bodyPr wrap="square">
            <a:spAutoFit/>
          </a:bodyPr>
          <a:lstStyle/>
          <a:p>
            <a:pPr>
              <a:defRPr sz="1300" b="1">
                <a:solidFill>
                  <a:srgbClr val="353334"/>
                </a:solidFill>
                <a:latin typeface="Fjalla One"/>
              </a:defRPr>
            </a:pPr>
            <a:r>
              <a:rPr dirty="0"/>
              <a:t>1. SCOPE</a:t>
            </a:r>
          </a:p>
          <a:p>
            <a:pPr>
              <a:spcBef>
                <a:spcPts val="400"/>
              </a:spcBef>
              <a:defRPr sz="1000">
                <a:solidFill>
                  <a:srgbClr val="3C3C41"/>
                </a:solidFill>
                <a:latin typeface="Mulish"/>
              </a:defRPr>
            </a:pPr>
            <a:r>
              <a:rPr lang="en-IN" sz="1000" dirty="0">
                <a:solidFill>
                  <a:srgbClr val="3C3C41"/>
                </a:solidFill>
                <a:latin typeface="Mulish"/>
              </a:rPr>
              <a:t>E</a:t>
            </a:r>
            <a:r>
              <a:rPr lang="en-IN" sz="1400" dirty="0">
                <a:solidFill>
                  <a:srgbClr val="3C3C41"/>
                </a:solidFill>
                <a:latin typeface="Mulish"/>
              </a:rPr>
              <a:t>xpand PRISM, with real-world datasets real-time labour market information, college and scholarship recommendations and personalized AI career guidance.</a:t>
            </a:r>
            <a:endParaRPr sz="1400" dirty="0"/>
          </a:p>
        </p:txBody>
      </p:sp>
      <p:sp>
        <p:nvSpPr>
          <p:cNvPr id="27" name="Rounded Rectangle 26"/>
          <p:cNvSpPr/>
          <p:nvPr/>
        </p:nvSpPr>
        <p:spPr>
          <a:xfrm>
            <a:off x="649224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12280" y="192938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02 · ECONOMICS</a:t>
            </a:r>
          </a:p>
        </p:txBody>
      </p:sp>
      <p:sp>
        <p:nvSpPr>
          <p:cNvPr id="29" name="TextBox 28"/>
          <p:cNvSpPr txBox="1"/>
          <p:nvPr/>
        </p:nvSpPr>
        <p:spPr>
          <a:xfrm>
            <a:off x="6766560" y="2313432"/>
            <a:ext cx="4023360" cy="1205458"/>
          </a:xfrm>
          <a:prstGeom prst="rect">
            <a:avLst/>
          </a:prstGeom>
          <a:noFill/>
        </p:spPr>
        <p:txBody>
          <a:bodyPr wrap="square">
            <a:spAutoFit/>
          </a:bodyPr>
          <a:lstStyle/>
          <a:p>
            <a:pPr>
              <a:defRPr sz="1300" b="1">
                <a:solidFill>
                  <a:srgbClr val="353334"/>
                </a:solidFill>
                <a:latin typeface="Fjalla One"/>
              </a:defRPr>
            </a:pPr>
            <a:r>
              <a:rPr dirty="0"/>
              <a:t>2. RUNNING COST</a:t>
            </a:r>
          </a:p>
          <a:p>
            <a:pPr>
              <a:spcBef>
                <a:spcPts val="400"/>
              </a:spcBef>
              <a:defRPr sz="1000">
                <a:solidFill>
                  <a:srgbClr val="3C3C41"/>
                </a:solidFill>
                <a:latin typeface="Mulish"/>
              </a:defRPr>
            </a:pPr>
            <a:r>
              <a:rPr lang="en-IN" sz="1400" dirty="0">
                <a:solidFill>
                  <a:srgbClr val="3C3C41"/>
                </a:solidFill>
                <a:latin typeface="Mulish"/>
              </a:rPr>
              <a:t>Running Cost is low – about ₹0 to ₹1,000 per month, for the prototype. Running Cost uses open‑source tools, free data sources and lightweight cloud services.</a:t>
            </a:r>
            <a:endParaRPr sz="1400" dirty="0"/>
          </a:p>
        </p:txBody>
      </p:sp>
      <p:sp>
        <p:nvSpPr>
          <p:cNvPr id="30" name="Rounded Rectangle 29"/>
          <p:cNvSpPr/>
          <p:nvPr/>
        </p:nvSpPr>
        <p:spPr>
          <a:xfrm>
            <a:off x="164592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426110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03 · CONTINGENCY</a:t>
            </a:r>
          </a:p>
        </p:txBody>
      </p:sp>
      <p:sp>
        <p:nvSpPr>
          <p:cNvPr id="32" name="TextBox 31"/>
          <p:cNvSpPr txBox="1"/>
          <p:nvPr/>
        </p:nvSpPr>
        <p:spPr>
          <a:xfrm>
            <a:off x="1920240" y="4645152"/>
            <a:ext cx="4023360" cy="1636345"/>
          </a:xfrm>
          <a:prstGeom prst="rect">
            <a:avLst/>
          </a:prstGeom>
          <a:noFill/>
        </p:spPr>
        <p:txBody>
          <a:bodyPr wrap="square">
            <a:spAutoFit/>
          </a:bodyPr>
          <a:lstStyle/>
          <a:p>
            <a:pPr>
              <a:defRPr sz="1300" b="1">
                <a:solidFill>
                  <a:srgbClr val="353334"/>
                </a:solidFill>
                <a:latin typeface="Fjalla One"/>
              </a:defRPr>
            </a:pPr>
            <a:r>
              <a:rPr dirty="0"/>
              <a:t>3. RISKS &amp; FALLBACK</a:t>
            </a:r>
          </a:p>
          <a:p>
            <a:pPr>
              <a:spcBef>
                <a:spcPts val="400"/>
              </a:spcBef>
              <a:defRPr sz="1000">
                <a:solidFill>
                  <a:srgbClr val="3C3C41"/>
                </a:solidFill>
                <a:latin typeface="Mulish"/>
              </a:defRPr>
            </a:pPr>
            <a:r>
              <a:rPr lang="en-IN" sz="1400" dirty="0">
                <a:solidFill>
                  <a:srgbClr val="3C3C41"/>
                </a:solidFill>
                <a:latin typeface="Mulish"/>
              </a:rPr>
              <a:t>PRISM could have problems like information, wrong suggestions, new changes in the job market and not enough details, about scholarships. As a plan it will use data that is checked and updated often offer several career choices and make sure the suggestions are shown as help but not as promises..</a:t>
            </a:r>
            <a:endParaRPr sz="1400" dirty="0"/>
          </a:p>
        </p:txBody>
      </p:sp>
      <p:sp>
        <p:nvSpPr>
          <p:cNvPr id="33" name="Rounded Rectangle 32"/>
          <p:cNvSpPr/>
          <p:nvPr/>
        </p:nvSpPr>
        <p:spPr>
          <a:xfrm>
            <a:off x="649224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812280" y="426110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04 · HORIZON</a:t>
            </a:r>
          </a:p>
        </p:txBody>
      </p:sp>
      <p:sp>
        <p:nvSpPr>
          <p:cNvPr id="35" name="TextBox 34"/>
          <p:cNvSpPr txBox="1"/>
          <p:nvPr/>
        </p:nvSpPr>
        <p:spPr>
          <a:xfrm>
            <a:off x="6766560" y="4645152"/>
            <a:ext cx="4023360" cy="1800493"/>
          </a:xfrm>
          <a:prstGeom prst="rect">
            <a:avLst/>
          </a:prstGeom>
          <a:noFill/>
        </p:spPr>
        <p:txBody>
          <a:bodyPr wrap="square">
            <a:spAutoFit/>
          </a:bodyPr>
          <a:lstStyle/>
          <a:p>
            <a:pPr>
              <a:defRPr sz="1300" b="1">
                <a:solidFill>
                  <a:srgbClr val="353334"/>
                </a:solidFill>
                <a:latin typeface="Fjalla One"/>
              </a:defRPr>
            </a:pPr>
            <a:r>
              <a:rPr dirty="0"/>
              <a:t>4. AFTER THE HACKATHON</a:t>
            </a:r>
          </a:p>
          <a:p>
            <a:r>
              <a:rPr lang="en-IN" sz="1400" dirty="0">
                <a:latin typeface="Mulish"/>
              </a:rPr>
              <a:t>After the hackathon we want to make PRISM better by adding real-time career information, salary details, scholarship options and job market updates. We will check how good the suggestions are, by asking students and counsellors. Our goal is to turn PRISM into a career planning tool that works for students, parents, schools and colleges..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06  </a:t>
            </a:r>
            <a:r>
              <a:rPr sz="3200" b="1">
                <a:solidFill>
                  <a:srgbClr val="353334"/>
                </a:solidFill>
                <a:latin typeface="Fjalla One"/>
              </a:rPr>
              <a:t>Impact &amp; Metrics</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Primary measurable impact · Transparent calculation · Stakeholder advantages</a:t>
            </a:r>
          </a:p>
        </p:txBody>
      </p:sp>
      <p:sp>
        <p:nvSpPr>
          <p:cNvPr id="24" name="Rounded Rectangle 23"/>
          <p:cNvSpPr/>
          <p:nvPr/>
        </p:nvSpPr>
        <p:spPr>
          <a:xfrm>
            <a:off x="1645920" y="2011680"/>
            <a:ext cx="9418320" cy="182880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PRIMARY METRIC</a:t>
            </a:r>
          </a:p>
        </p:txBody>
      </p:sp>
      <p:sp>
        <p:nvSpPr>
          <p:cNvPr id="26" name="TextBox 25"/>
          <p:cNvSpPr txBox="1"/>
          <p:nvPr/>
        </p:nvSpPr>
        <p:spPr>
          <a:xfrm>
            <a:off x="1920240" y="2194560"/>
            <a:ext cx="4114800" cy="1371600"/>
          </a:xfrm>
          <a:prstGeom prst="rect">
            <a:avLst/>
          </a:prstGeom>
          <a:noFill/>
        </p:spPr>
        <p:txBody>
          <a:bodyPr wrap="square">
            <a:spAutoFit/>
          </a:bodyPr>
          <a:lstStyle/>
          <a:p>
            <a:pPr>
              <a:defRPr sz="4600" b="1">
                <a:solidFill>
                  <a:srgbClr val="FD1485"/>
                </a:solidFill>
                <a:latin typeface="Fjalla One"/>
              </a:defRPr>
            </a:pPr>
            <a:r>
              <a:t>[ XX% ]</a:t>
            </a:r>
          </a:p>
          <a:p>
            <a:pPr>
              <a:spcBef>
                <a:spcPts val="200"/>
              </a:spcBef>
              <a:defRPr sz="1200" b="1">
                <a:solidFill>
                  <a:srgbClr val="353334"/>
                </a:solidFill>
                <a:latin typeface="Fjalla One"/>
              </a:defRPr>
            </a:pPr>
            <a:r>
              <a:t>[ One important measurable impact metric ]</a:t>
            </a:r>
          </a:p>
        </p:txBody>
      </p:sp>
      <p:sp>
        <p:nvSpPr>
          <p:cNvPr id="27" name="TextBox 26"/>
          <p:cNvSpPr txBox="1"/>
          <p:nvPr/>
        </p:nvSpPr>
        <p:spPr>
          <a:xfrm>
            <a:off x="6217920" y="2286000"/>
            <a:ext cx="4572000" cy="1092607"/>
          </a:xfrm>
          <a:prstGeom prst="rect">
            <a:avLst/>
          </a:prstGeom>
          <a:noFill/>
        </p:spPr>
        <p:txBody>
          <a:bodyPr wrap="square">
            <a:spAutoFit/>
          </a:bodyPr>
          <a:lstStyle/>
          <a:p>
            <a:pPr>
              <a:defRPr sz="1200" b="1">
                <a:solidFill>
                  <a:srgbClr val="353334"/>
                </a:solidFill>
                <a:latin typeface="Fjalla One"/>
              </a:defRPr>
            </a:pPr>
            <a:r>
              <a:rPr dirty="0"/>
              <a:t>HOW IT WAS MEASURED</a:t>
            </a:r>
          </a:p>
          <a:p>
            <a:pPr>
              <a:spcBef>
                <a:spcPts val="300"/>
              </a:spcBef>
              <a:defRPr sz="1000">
                <a:solidFill>
                  <a:srgbClr val="3C3C41"/>
                </a:solidFill>
                <a:latin typeface="Mulish"/>
              </a:defRPr>
            </a:pPr>
            <a:r>
              <a:rPr lang="en-IN" sz="1000" dirty="0">
                <a:solidFill>
                  <a:srgbClr val="3C3C41"/>
                </a:solidFill>
                <a:latin typeface="Mulish"/>
              </a:rPr>
              <a:t>We used sample student profiles and real-world career data to measure PRISM. We compared the recommendations it gave against factors, like career demand, salary, affordability and scholarship availability. The results were based on a scoring system that checked how well each suggested career aligned with the student’s interests, financial limits and what the job market actually needed.</a:t>
            </a:r>
            <a:r>
              <a:rPr lang="en-IN" sz="1050" dirty="0">
                <a:solidFill>
                  <a:srgbClr val="3C3C41"/>
                </a:solidFill>
                <a:latin typeface="Mulish"/>
              </a:rPr>
              <a:t>.</a:t>
            </a:r>
            <a:endParaRPr sz="1050" dirty="0"/>
          </a:p>
        </p:txBody>
      </p:sp>
      <p:sp>
        <p:nvSpPr>
          <p:cNvPr id="28" name="Rounded Rectangle 27"/>
          <p:cNvSpPr/>
          <p:nvPr/>
        </p:nvSpPr>
        <p:spPr>
          <a:xfrm>
            <a:off x="1645920" y="4114800"/>
            <a:ext cx="2971800" cy="2423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965960" y="398678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IMPACT 01</a:t>
            </a:r>
          </a:p>
        </p:txBody>
      </p:sp>
      <p:sp>
        <p:nvSpPr>
          <p:cNvPr id="30" name="TextBox 29"/>
          <p:cNvSpPr txBox="1"/>
          <p:nvPr/>
        </p:nvSpPr>
        <p:spPr>
          <a:xfrm>
            <a:off x="1828800" y="4343400"/>
            <a:ext cx="2606040" cy="2159566"/>
          </a:xfrm>
          <a:prstGeom prst="rect">
            <a:avLst/>
          </a:prstGeom>
          <a:noFill/>
        </p:spPr>
        <p:txBody>
          <a:bodyPr wrap="square">
            <a:spAutoFit/>
          </a:bodyPr>
          <a:lstStyle/>
          <a:p>
            <a:pPr>
              <a:defRPr sz="1100" b="1">
                <a:solidFill>
                  <a:srgbClr val="353334"/>
                </a:solidFill>
                <a:latin typeface="Fjalla One"/>
              </a:defRPr>
            </a:pPr>
            <a:r>
              <a:rPr dirty="0"/>
              <a:t>WHAT IMPROVES</a:t>
            </a:r>
          </a:p>
          <a:p>
            <a:pPr>
              <a:spcBef>
                <a:spcPts val="400"/>
              </a:spcBef>
              <a:defRPr sz="950">
                <a:solidFill>
                  <a:srgbClr val="3C3C41"/>
                </a:solidFill>
                <a:latin typeface="Mulish"/>
              </a:defRPr>
            </a:pPr>
            <a:r>
              <a:rPr lang="en-IN" sz="1200" dirty="0">
                <a:solidFill>
                  <a:srgbClr val="3C3C41"/>
                </a:solidFill>
                <a:latin typeface="Mulish"/>
              </a:rPr>
              <a:t>PRISM improves career decision‑making by combining student interests, family affordability, salary potential, industry demand and financial‑aid opportunities, in one system. I see PRISM help users make informed, personalized and practical career choices while reducing the risk of unsuitable or financially difficult decisions</a:t>
            </a:r>
            <a:r>
              <a:rPr lang="en-IN" sz="950" dirty="0">
                <a:solidFill>
                  <a:srgbClr val="3C3C41"/>
                </a:solidFill>
                <a:latin typeface="Mulish"/>
              </a:rPr>
              <a:t>.</a:t>
            </a:r>
            <a:endParaRPr dirty="0"/>
          </a:p>
        </p:txBody>
      </p:sp>
      <p:sp>
        <p:nvSpPr>
          <p:cNvPr id="31" name="Rounded Rectangle 30"/>
          <p:cNvSpPr/>
          <p:nvPr/>
        </p:nvSpPr>
        <p:spPr>
          <a:xfrm>
            <a:off x="4864608" y="4114800"/>
            <a:ext cx="2971800" cy="2423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184648" y="398678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IMPACT 02</a:t>
            </a:r>
          </a:p>
        </p:txBody>
      </p:sp>
      <p:sp>
        <p:nvSpPr>
          <p:cNvPr id="33" name="TextBox 32"/>
          <p:cNvSpPr txBox="1"/>
          <p:nvPr/>
        </p:nvSpPr>
        <p:spPr>
          <a:xfrm>
            <a:off x="5047488" y="4343400"/>
            <a:ext cx="2606040" cy="1369606"/>
          </a:xfrm>
          <a:prstGeom prst="rect">
            <a:avLst/>
          </a:prstGeom>
          <a:noFill/>
        </p:spPr>
        <p:txBody>
          <a:bodyPr wrap="square">
            <a:spAutoFit/>
          </a:bodyPr>
          <a:lstStyle/>
          <a:p>
            <a:pPr>
              <a:defRPr sz="1100" b="1">
                <a:solidFill>
                  <a:srgbClr val="353334"/>
                </a:solidFill>
                <a:latin typeface="Fjalla One"/>
              </a:defRPr>
            </a:pPr>
            <a:r>
              <a:rPr dirty="0"/>
              <a:t>WHO ELSE BENEFITS</a:t>
            </a:r>
          </a:p>
          <a:p>
            <a:r>
              <a:rPr lang="en-IN" sz="1200" b="1" dirty="0">
                <a:latin typeface="Mulish"/>
              </a:rPr>
              <a:t>Students, parents, schools, colleges, career counsellors, and employers</a:t>
            </a:r>
            <a:r>
              <a:rPr lang="en-IN" sz="1200" dirty="0">
                <a:latin typeface="Mulish"/>
              </a:rPr>
              <a:t> all benefit from PRISM by gaining better career insights, financial planning, and access to relevant skills and opportunities</a:t>
            </a:r>
          </a:p>
        </p:txBody>
      </p:sp>
      <p:sp>
        <p:nvSpPr>
          <p:cNvPr id="34" name="Rounded Rectangle 33"/>
          <p:cNvSpPr/>
          <p:nvPr/>
        </p:nvSpPr>
        <p:spPr>
          <a:xfrm>
            <a:off x="8083296" y="4114800"/>
            <a:ext cx="2971800" cy="2423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403336" y="398678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IMPACT 03</a:t>
            </a:r>
          </a:p>
        </p:txBody>
      </p:sp>
      <p:sp>
        <p:nvSpPr>
          <p:cNvPr id="36" name="TextBox 35"/>
          <p:cNvSpPr txBox="1"/>
          <p:nvPr/>
        </p:nvSpPr>
        <p:spPr>
          <a:xfrm>
            <a:off x="8266176" y="4343400"/>
            <a:ext cx="2606040" cy="1605568"/>
          </a:xfrm>
          <a:prstGeom prst="rect">
            <a:avLst/>
          </a:prstGeom>
          <a:noFill/>
        </p:spPr>
        <p:txBody>
          <a:bodyPr wrap="square">
            <a:spAutoFit/>
          </a:bodyPr>
          <a:lstStyle/>
          <a:p>
            <a:pPr>
              <a:defRPr sz="1100" b="1">
                <a:solidFill>
                  <a:srgbClr val="353334"/>
                </a:solidFill>
                <a:latin typeface="Fjalla One"/>
              </a:defRPr>
            </a:pPr>
            <a:r>
              <a:rPr dirty="0"/>
              <a:t>RISKS / MISUSE</a:t>
            </a:r>
          </a:p>
          <a:p>
            <a:pPr>
              <a:spcBef>
                <a:spcPts val="400"/>
              </a:spcBef>
              <a:defRPr sz="950">
                <a:solidFill>
                  <a:srgbClr val="3C3C41"/>
                </a:solidFill>
                <a:latin typeface="Mulish"/>
              </a:defRPr>
            </a:pPr>
            <a:r>
              <a:rPr lang="en-IN" sz="950" dirty="0">
                <a:solidFill>
                  <a:srgbClr val="3C3C41"/>
                </a:solidFill>
                <a:latin typeface="Mulish"/>
              </a:rPr>
              <a:t>PR</a:t>
            </a:r>
            <a:r>
              <a:rPr lang="en-IN" sz="1200" dirty="0">
                <a:solidFill>
                  <a:srgbClr val="3C3C41"/>
                </a:solidFill>
                <a:latin typeface="Mulish"/>
              </a:rPr>
              <a:t>ISM may give out-of-date suggestions. It could use data and mishandle personal or financial information. Users might depend much on AI advice. That is why results should be shown as help not as sure choices, for careers.</a:t>
            </a:r>
            <a:endParaRPr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07  </a:t>
            </a:r>
            <a:r>
              <a:rPr sz="3200" b="1">
                <a:solidFill>
                  <a:srgbClr val="353334"/>
                </a:solidFill>
                <a:latin typeface="Fjalla One"/>
              </a:rPr>
              <a:t>Why This Project?</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Direct contrast with today's alternatives · Unfair technical advantage</a:t>
            </a:r>
          </a:p>
        </p:txBody>
      </p:sp>
      <p:sp>
        <p:nvSpPr>
          <p:cNvPr id="24" name="Rounded Rectangle 23"/>
          <p:cNvSpPr/>
          <p:nvPr/>
        </p:nvSpPr>
        <p:spPr>
          <a:xfrm>
            <a:off x="1645920" y="2011680"/>
            <a:ext cx="4572000" cy="26517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STATUS QUO</a:t>
            </a:r>
          </a:p>
        </p:txBody>
      </p:sp>
      <p:sp>
        <p:nvSpPr>
          <p:cNvPr id="26" name="TextBox 25"/>
          <p:cNvSpPr txBox="1"/>
          <p:nvPr/>
        </p:nvSpPr>
        <p:spPr>
          <a:xfrm>
            <a:off x="1920240" y="2286000"/>
            <a:ext cx="4023360" cy="1467068"/>
          </a:xfrm>
          <a:prstGeom prst="rect">
            <a:avLst/>
          </a:prstGeom>
          <a:noFill/>
        </p:spPr>
        <p:txBody>
          <a:bodyPr wrap="square">
            <a:spAutoFit/>
          </a:bodyPr>
          <a:lstStyle/>
          <a:p>
            <a:pPr>
              <a:defRPr sz="1400" b="1">
                <a:solidFill>
                  <a:srgbClr val="353334"/>
                </a:solidFill>
                <a:latin typeface="Fjalla One"/>
              </a:defRPr>
            </a:pPr>
            <a:r>
              <a:rPr dirty="0"/>
              <a:t>CURRENT APPROACH</a:t>
            </a:r>
          </a:p>
          <a:p>
            <a:pPr>
              <a:spcBef>
                <a:spcPts val="400"/>
              </a:spcBef>
              <a:defRPr sz="1000">
                <a:solidFill>
                  <a:srgbClr val="3C3C41"/>
                </a:solidFill>
                <a:latin typeface="Mulish"/>
              </a:defRPr>
            </a:pPr>
            <a:r>
              <a:rPr lang="en-IN" sz="1200" dirty="0">
                <a:solidFill>
                  <a:srgbClr val="3C3C41"/>
                </a:solidFill>
                <a:latin typeface="Mulish"/>
              </a:rPr>
              <a:t>Today students use career counsellors Google searches, college websites, job portals and special scholarship and salary websites to get ready, for their careers. These choices are spread out take a lot of time. They do not often bring together personal interests, family money limits and what is needed in the job market right now all in one place</a:t>
            </a:r>
            <a:r>
              <a:rPr lang="en-IN" sz="1000" dirty="0">
                <a:solidFill>
                  <a:srgbClr val="3C3C41"/>
                </a:solidFill>
                <a:latin typeface="Mulish"/>
              </a:rPr>
              <a:t>.</a:t>
            </a:r>
            <a:endParaRPr sz="1200" dirty="0"/>
          </a:p>
        </p:txBody>
      </p:sp>
      <p:sp>
        <p:nvSpPr>
          <p:cNvPr id="27" name="Rounded Rectangle 26"/>
          <p:cNvSpPr/>
          <p:nvPr/>
        </p:nvSpPr>
        <p:spPr>
          <a:xfrm>
            <a:off x="6492240" y="2011680"/>
            <a:ext cx="4572000" cy="26517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12280" y="188366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OUR SOLUTION</a:t>
            </a:r>
          </a:p>
        </p:txBody>
      </p:sp>
      <p:sp>
        <p:nvSpPr>
          <p:cNvPr id="29" name="TextBox 28"/>
          <p:cNvSpPr txBox="1"/>
          <p:nvPr/>
        </p:nvSpPr>
        <p:spPr>
          <a:xfrm>
            <a:off x="6766560" y="2286000"/>
            <a:ext cx="4023360" cy="2154436"/>
          </a:xfrm>
          <a:prstGeom prst="rect">
            <a:avLst/>
          </a:prstGeom>
          <a:noFill/>
        </p:spPr>
        <p:txBody>
          <a:bodyPr wrap="square">
            <a:spAutoFit/>
          </a:bodyPr>
          <a:lstStyle/>
          <a:p>
            <a:pPr>
              <a:defRPr sz="1400" b="1">
                <a:solidFill>
                  <a:srgbClr val="353334"/>
                </a:solidFill>
                <a:latin typeface="Fjalla One"/>
              </a:defRPr>
            </a:pPr>
            <a:r>
              <a:rPr dirty="0"/>
              <a:t>OUR APPROACH</a:t>
            </a:r>
          </a:p>
          <a:p>
            <a:r>
              <a:rPr lang="en-IN" sz="1200" dirty="0">
                <a:latin typeface="Mulish"/>
              </a:rPr>
              <a:t>PRISM uses a -factor algorithm to combine student interests, skills, financial constraints, location, salary potential, scholarships and industry demand to generate personalized career paths. It brings all these factors together in one place. This makes it faster relevant and more cost-effective than comparing many separate sources by hand. Students get guidance that fits their situation without having to search over. The system looks at everything, at once. Gives clear tailored suggestions. It helps students make choices about their future careers.</a:t>
            </a:r>
          </a:p>
        </p:txBody>
      </p:sp>
      <p:sp>
        <p:nvSpPr>
          <p:cNvPr id="30" name="Rounded Rectangle 29"/>
          <p:cNvSpPr/>
          <p:nvPr/>
        </p:nvSpPr>
        <p:spPr>
          <a:xfrm>
            <a:off x="1645920" y="4892040"/>
            <a:ext cx="941832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476402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MOAT / DIFFERENTIATION</a:t>
            </a:r>
          </a:p>
        </p:txBody>
      </p:sp>
      <p:sp>
        <p:nvSpPr>
          <p:cNvPr id="32" name="TextBox 31"/>
          <p:cNvSpPr txBox="1"/>
          <p:nvPr/>
        </p:nvSpPr>
        <p:spPr>
          <a:xfrm>
            <a:off x="1920240" y="5120640"/>
            <a:ext cx="8869680" cy="1138773"/>
          </a:xfrm>
          <a:prstGeom prst="rect">
            <a:avLst/>
          </a:prstGeom>
          <a:noFill/>
        </p:spPr>
        <p:txBody>
          <a:bodyPr wrap="square">
            <a:spAutoFit/>
          </a:bodyPr>
          <a:lstStyle/>
          <a:p>
            <a:pPr>
              <a:defRPr sz="1200" b="1">
                <a:solidFill>
                  <a:srgbClr val="FD1485"/>
                </a:solidFill>
                <a:latin typeface="Fjalla One"/>
              </a:defRPr>
            </a:pPr>
            <a:r>
              <a:rPr dirty="0"/>
              <a:t>KEY DIFFERENCE</a:t>
            </a:r>
          </a:p>
          <a:p>
            <a:r>
              <a:rPr lang="en-IN" sz="1400" dirty="0">
                <a:latin typeface="Mulish"/>
              </a:rPr>
              <a:t>PRISM is a tool that joins student interests, family affordability, job demand in the region and around the world salary potential and financial‑aid options in one decision engine.</a:t>
            </a:r>
          </a:p>
          <a:p>
            <a:r>
              <a:rPr lang="en-IN" sz="1400" dirty="0">
                <a:latin typeface="Mulish"/>
              </a:rPr>
              <a:t>Of having users look at each of these factors, on different sites PRISM keeps everything together so that the decision process becomes simpler and clearer.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81</TotalTime>
  <Words>1559</Words>
  <Application>Microsoft Office PowerPoint</Application>
  <PresentationFormat>Widescreen</PresentationFormat>
  <Paragraphs>118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Fjalla One</vt:lpstr>
      <vt:lpstr>Mulish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harikumar s</cp:lastModifiedBy>
  <cp:revision>7</cp:revision>
  <dcterms:created xsi:type="dcterms:W3CDTF">2013-01-27T09:14:16Z</dcterms:created>
  <dcterms:modified xsi:type="dcterms:W3CDTF">2026-10-07T09:14:13Z</dcterms:modified>
  <cp:category/>
</cp:coreProperties>
</file>